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6" r:id="rId1"/>
  </p:sldMasterIdLst>
  <p:notesMasterIdLst>
    <p:notesMasterId r:id="rId30"/>
  </p:notesMasterIdLst>
  <p:sldIdLst>
    <p:sldId id="256" r:id="rId2"/>
    <p:sldId id="258" r:id="rId3"/>
    <p:sldId id="284" r:id="rId4"/>
    <p:sldId id="285" r:id="rId5"/>
    <p:sldId id="310" r:id="rId6"/>
    <p:sldId id="286" r:id="rId7"/>
    <p:sldId id="287" r:id="rId8"/>
    <p:sldId id="311" r:id="rId9"/>
    <p:sldId id="313" r:id="rId10"/>
    <p:sldId id="312" r:id="rId11"/>
    <p:sldId id="314" r:id="rId12"/>
    <p:sldId id="315" r:id="rId13"/>
    <p:sldId id="334" r:id="rId14"/>
    <p:sldId id="316" r:id="rId15"/>
    <p:sldId id="259" r:id="rId16"/>
    <p:sldId id="317" r:id="rId17"/>
    <p:sldId id="318" r:id="rId18"/>
    <p:sldId id="330" r:id="rId19"/>
    <p:sldId id="331" r:id="rId20"/>
    <p:sldId id="332" r:id="rId21"/>
    <p:sldId id="333" r:id="rId22"/>
    <p:sldId id="303" r:id="rId23"/>
    <p:sldId id="323" r:id="rId24"/>
    <p:sldId id="322" r:id="rId25"/>
    <p:sldId id="321" r:id="rId26"/>
    <p:sldId id="320" r:id="rId27"/>
    <p:sldId id="324" r:id="rId28"/>
    <p:sldId id="325" r:id="rId29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72" y="5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51DB1-092B-4B95-8455-D31573DBABC6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C3E04-6D3F-42BC-962E-6271C4FAE8F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48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2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3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4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5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6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7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8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9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10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11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11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11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11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12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14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15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16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17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22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22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23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23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24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24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25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25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494099F1-DA10-4F19-9466-6B07EB5945E0}" type="slidenum">
              <a:rPr lang="ru-RU"/>
              <a:pPr/>
              <a:t>26</a:t>
            </a:fld>
            <a:endParaRPr lang="ru-RU"/>
          </a:p>
        </p:txBody>
      </p:sp>
      <p:sp>
        <p:nvSpPr>
          <p:cNvPr id="34817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E37BF5E-F1D7-405D-9774-33D3CFCB84A9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B9600806-4D0E-43D4-A3A6-9BD5951B2BF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E35EF416-4E0A-4DEB-A170-978498ECC641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26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4820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51F50B9-7D6D-46E3-875A-C9C880913D49}" type="slidenum">
              <a:rPr lang="ru-RU"/>
              <a:pPr/>
              <a:t>27</a:t>
            </a:fld>
            <a:endParaRPr lang="ru-RU"/>
          </a:p>
        </p:txBody>
      </p:sp>
      <p:sp>
        <p:nvSpPr>
          <p:cNvPr id="3379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6B4597E-9300-48AF-820D-D31A2413A88A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6426B5B4-A49F-42EF-B8C4-3E679CF0EDD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32E0AF01-544C-491B-B6A8-EF6ADBEAB62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27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3379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0BC56E0-BCB7-4D4C-ADA6-0B886D96C381}" type="slidenum">
              <a:rPr lang="ru-RU"/>
              <a:pPr/>
              <a:t>28</a:t>
            </a:fld>
            <a:endParaRPr lang="ru-RU"/>
          </a:p>
        </p:txBody>
      </p:sp>
      <p:sp>
        <p:nvSpPr>
          <p:cNvPr id="44033" name="Text Box 1"/>
          <p:cNvSpPr txBox="1">
            <a:spLocks noChangeArrowheads="1"/>
          </p:cNvSpPr>
          <p:nvPr/>
        </p:nvSpPr>
        <p:spPr bwMode="auto">
          <a:xfrm>
            <a:off x="3850443" y="9428584"/>
            <a:ext cx="2922056" cy="47048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0897BCD8-4138-48E6-B6D9-39F5CD90DC96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3850443" y="9428584"/>
            <a:ext cx="2923630" cy="4722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1340CDF3-3818-4738-AEA0-DE59533E52AE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3850443" y="9428584"/>
            <a:ext cx="2928350" cy="47737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b"/>
          <a:lstStyle/>
          <a:p>
            <a:pPr algn="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A772F919-7ABE-4B38-B72F-08A67CDDDA45}" type="slidenum">
              <a:rPr lang="ru-RU" sz="1200">
                <a:solidFill>
                  <a:srgbClr val="000000"/>
                </a:solidFill>
                <a:latin typeface="Times New Roman" pitchFamily="16" charset="0"/>
                <a:cs typeface="Arial Unicode MS" charset="0"/>
              </a:rPr>
              <a:pPr algn="r">
                <a:buClrTx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28</a:t>
            </a:fld>
            <a:endParaRPr lang="ru-RU" sz="1200">
              <a:solidFill>
                <a:srgbClr val="000000"/>
              </a:solidFill>
              <a:latin typeface="Times New Roman" pitchFamily="16" charset="0"/>
              <a:cs typeface="Arial Unicode MS" charset="0"/>
            </a:endParaRPr>
          </a:p>
        </p:txBody>
      </p:sp>
      <p:sp>
        <p:nvSpPr>
          <p:cNvPr id="44036" name="Rectangle 4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19163" y="744538"/>
            <a:ext cx="4953000" cy="37163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79767" y="4715153"/>
            <a:ext cx="5431846" cy="44600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7" name="Picture 2" descr="F:\ОАиП\2018-2019\C#\C#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946" y="5805264"/>
            <a:ext cx="1227684" cy="1227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2A0F-C411-4DD9-B000-50541070904F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99A2A0F-C411-4DD9-B000-50541070904F}" type="datetimeFigureOut">
              <a:rPr lang="ru-RU" smtClean="0"/>
              <a:pPr/>
              <a:t>30.09.2022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6905A79-CE74-41E1-B067-B649300B8D8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47664" y="1308744"/>
            <a:ext cx="7406640" cy="1472184"/>
          </a:xfrm>
        </p:spPr>
        <p:txBody>
          <a:bodyPr>
            <a:noAutofit/>
          </a:bodyPr>
          <a:lstStyle/>
          <a:p>
            <a:pPr algn="r"/>
            <a:br>
              <a:rPr lang="ru-RU" sz="3600" dirty="0">
                <a:solidFill>
                  <a:srgbClr val="0070C0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lang="ru-RU" alt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Введение в </a:t>
            </a:r>
            <a:r>
              <a:rPr lang="en-US" altLang="ru-RU" sz="3600" dirty="0">
                <a:latin typeface="Arial" panose="020B0604020202020204" pitchFamily="34" charset="0"/>
                <a:cs typeface="Arial" panose="020B0604020202020204" pitchFamily="34" charset="0"/>
              </a:rPr>
              <a:t>C#.</a:t>
            </a:r>
            <a:r>
              <a:rPr lang="ru-RU" altLang="ru-RU" sz="3600" dirty="0">
                <a:latin typeface="Arial" panose="020B0604020202020204" pitchFamily="34" charset="0"/>
                <a:cs typeface="Arial" panose="020B0604020202020204" pitchFamily="34" charset="0"/>
              </a:rPr>
              <a:t> Константы и переменные. Ключевые слова. Идентификаторы. Типы данных. Преобразование типов</a:t>
            </a:r>
            <a:endParaRPr lang="ru-RU" sz="3600" dirty="0"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75656" y="2900536"/>
            <a:ext cx="7406640" cy="1752600"/>
          </a:xfrm>
        </p:spPr>
        <p:txBody>
          <a:bodyPr/>
          <a:lstStyle/>
          <a:p>
            <a:pPr algn="r"/>
            <a:r>
              <a:rPr lang="ru-RU" dirty="0">
                <a:latin typeface="Arial" pitchFamily="34" charset="0"/>
                <a:cs typeface="Arial" pitchFamily="34" charset="0"/>
              </a:rPr>
              <a:t>Лекция №5</a:t>
            </a:r>
          </a:p>
        </p:txBody>
      </p:sp>
      <p:sp>
        <p:nvSpPr>
          <p:cNvPr id="23554" name="AutoShape 2" descr="ÐÐ°ÑÑÐ¸Ð½ÐºÐ¸ Ð¿Ð¾ Ð·Ð°Ð¿ÑÐ¾ÑÑ Ñ Ð¿ÑÐ¾Ð³ÑÐ°Ð¼Ð¼Ð¸ÑÐ¾Ð²Ð°Ð½Ð¸Ðµ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556" name="AutoShape 4" descr="ÐÐ°ÑÑÐ¸Ð½ÐºÐ¸ Ð¿Ð¾ Ð·Ð°Ð¿ÑÐ¾ÑÑ Ñ Ð¿ÑÐ¾Ð³ÑÐ°Ð¼Ð¼Ð¸ÑÐ¾Ð²Ð°Ð½Ð¸Ðµ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3559" name="AutoShape 7" descr="ÐÐ°ÑÑÐ¸Ð½ÐºÐ¸ Ð¿Ð¾ Ð·Ð°Ð¿ÑÐ¾ÑÑ Ñ Ð¿ÑÐ¾Ð³ÑÐ°Ð¼Ð¼Ð¸ÑÐ¾Ð²Ð°Ð½Ð¸Ðµ 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6" name="Picture 2" descr="F:\ОАиП\2018-2019\C#\C#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 trans="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164" y="2348880"/>
            <a:ext cx="4396036" cy="4396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Введение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501799"/>
            <a:ext cx="7704856" cy="171117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.NET Framework –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это платформа, созданная 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Microsoft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для разработки приложений.</a:t>
            </a:r>
          </a:p>
          <a:p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Visual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Studio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— линейка продуктов компании </a:t>
            </a:r>
            <a:r>
              <a:rPr lang="ru-RU" alt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Microsoft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, включающих интегрированную среду разработки программного обеспечения и ряд других инструментальных средств.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35436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Язык программирования </a:t>
            </a:r>
            <a:r>
              <a:rPr lang="en-US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645815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265113"/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Язык программирования 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был разработан 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Microsoft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на базе языков 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C++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специально для работы с платформой 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.NET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265113"/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На языке 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C#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можно писать приложения: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Windows-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приложения (например, 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Microsoft Office);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Web-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приложения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Web-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службы.</a:t>
            </a:r>
          </a:p>
          <a:p>
            <a:pPr indent="263525">
              <a:buFont typeface="Arial" pitchFamily="34" charset="0"/>
              <a:buChar char="•"/>
            </a:pPr>
            <a:endParaRPr lang="ru-RU" sz="26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114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Комментарии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143000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352425"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В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C# 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различают: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многострочные комментарии</a:t>
            </a:r>
          </a:p>
          <a:p>
            <a:pPr indent="352425">
              <a:defRPr/>
            </a:pP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/*</a:t>
            </a: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многострочный</a:t>
            </a:r>
          </a:p>
          <a:p>
            <a:pPr indent="352425">
              <a:defRPr/>
            </a:pP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комментарий*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/</a:t>
            </a:r>
            <a:endParaRPr lang="ru-RU" sz="2800" b="1" dirty="0">
              <a:solidFill>
                <a:schemeClr val="tx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однострочные комментарии</a:t>
            </a:r>
          </a:p>
          <a:p>
            <a:pPr indent="352425">
              <a:defRPr/>
            </a:pP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//однострочный комментарий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Специальный комментарий: извлекает текст из комментария и создает специальный текстовый файл. Эти комментарии должны быть составлены по правилам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XML-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документации</a:t>
            </a:r>
          </a:p>
          <a:p>
            <a:pPr indent="352425">
              <a:defRPr/>
            </a:pP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///специальный комментарий</a:t>
            </a:r>
          </a:p>
        </p:txBody>
      </p:sp>
    </p:spTree>
    <p:extLst>
      <p:ext uri="{BB962C8B-B14F-4D97-AF65-F5344CB8AC3E}">
        <p14:creationId xmlns:p14="http://schemas.microsoft.com/office/powerpoint/2010/main" val="544031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35436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Идентификаторы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501799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352425">
              <a:defRPr/>
            </a:pPr>
            <a:r>
              <a:rPr lang="ru-RU" sz="2800" i="1" dirty="0">
                <a:latin typeface="Arial" pitchFamily="34" charset="0"/>
                <a:cs typeface="Arial" pitchFamily="34" charset="0"/>
              </a:rPr>
              <a:t>Имена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, или </a:t>
            </a:r>
            <a:r>
              <a:rPr lang="ru-RU" sz="2800" i="1" dirty="0">
                <a:latin typeface="Arial" pitchFamily="34" charset="0"/>
                <a:cs typeface="Arial" pitchFamily="34" charset="0"/>
              </a:rPr>
              <a:t>идентификаторы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, служат для того чтобы обращаться к программным объектам и различать их. </a:t>
            </a:r>
          </a:p>
          <a:p>
            <a:pPr indent="352425"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В идентификаторе могут использоваться: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буквы;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цифры;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символ подчеркивания.</a:t>
            </a:r>
          </a:p>
          <a:p>
            <a:pPr indent="352425"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Прописные и строчные буквы различаются.</a:t>
            </a:r>
          </a:p>
          <a:p>
            <a:pPr indent="352425">
              <a:defRPr/>
            </a:pP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Пример:</a:t>
            </a:r>
            <a:r>
              <a:rPr lang="ru-RU" sz="2800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 </a:t>
            </a:r>
            <a:r>
              <a:rPr lang="ru-RU" sz="2800" i="1" dirty="0" err="1">
                <a:latin typeface="Arial" pitchFamily="34" charset="0"/>
                <a:cs typeface="Arial" pitchFamily="34" charset="0"/>
              </a:rPr>
              <a:t>hacker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, </a:t>
            </a:r>
            <a:r>
              <a:rPr lang="ru-RU" sz="2800" i="1" dirty="0" err="1">
                <a:latin typeface="Arial" pitchFamily="34" charset="0"/>
                <a:cs typeface="Arial" pitchFamily="34" charset="0"/>
              </a:rPr>
              <a:t>Hacker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 и </a:t>
            </a:r>
            <a:r>
              <a:rPr lang="ru-RU" sz="2800" i="1" dirty="0" err="1">
                <a:latin typeface="Arial" pitchFamily="34" charset="0"/>
                <a:cs typeface="Arial" pitchFamily="34" charset="0"/>
              </a:rPr>
              <a:t>hAcKeR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  — три разных имени.</a:t>
            </a:r>
          </a:p>
        </p:txBody>
      </p:sp>
    </p:spTree>
    <p:extLst>
      <p:ext uri="{BB962C8B-B14F-4D97-AF65-F5344CB8AC3E}">
        <p14:creationId xmlns:p14="http://schemas.microsoft.com/office/powerpoint/2010/main" val="544031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Идентификаторы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143000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360363"/>
            <a:r>
              <a:rPr lang="ru-RU" altLang="ru-RU" sz="2700" dirty="0">
                <a:latin typeface="Arial" panose="020B0604020202020204" pitchFamily="34" charset="0"/>
                <a:cs typeface="Arial" panose="020B0604020202020204" pitchFamily="34" charset="0"/>
              </a:rPr>
              <a:t>Первым символом идентификатора может быть буква или знак подчеркивания, но не цифра.</a:t>
            </a:r>
          </a:p>
          <a:p>
            <a:pPr indent="360363"/>
            <a:r>
              <a:rPr lang="ru-RU" altLang="ru-RU" sz="2700" dirty="0">
                <a:latin typeface="Arial" panose="020B0604020202020204" pitchFamily="34" charset="0"/>
                <a:cs typeface="Arial" panose="020B0604020202020204" pitchFamily="34" charset="0"/>
              </a:rPr>
              <a:t>Длина идентификатора не ограничена.</a:t>
            </a:r>
          </a:p>
          <a:p>
            <a:pPr indent="360363"/>
            <a:r>
              <a:rPr lang="ru-RU" altLang="ru-RU" sz="2700" dirty="0">
                <a:latin typeface="Arial" panose="020B0604020202020204" pitchFamily="34" charset="0"/>
                <a:cs typeface="Arial" panose="020B0604020202020204" pitchFamily="34" charset="0"/>
              </a:rPr>
              <a:t>Пробелы внутри имен не допускаются.</a:t>
            </a:r>
          </a:p>
          <a:p>
            <a:pPr indent="360363"/>
            <a:r>
              <a:rPr lang="ru-RU" altLang="ru-RU" sz="2700" dirty="0">
                <a:latin typeface="Arial" panose="020B0604020202020204" pitchFamily="34" charset="0"/>
                <a:cs typeface="Arial" panose="020B0604020202020204" pitchFamily="34" charset="0"/>
              </a:rPr>
              <a:t>В идентификаторах C# разрешается использовать буквы национальных алфавитов.</a:t>
            </a:r>
          </a:p>
          <a:p>
            <a:pPr indent="360363"/>
            <a:r>
              <a:rPr lang="ru-RU" altLang="ru-RU" sz="2700" b="1" dirty="0">
                <a:latin typeface="Arial" panose="020B0604020202020204" pitchFamily="34" charset="0"/>
                <a:cs typeface="Arial" panose="020B0604020202020204" pitchFamily="34" charset="0"/>
              </a:rPr>
              <a:t>Пример: </a:t>
            </a:r>
            <a:r>
              <a:rPr lang="ru-RU" altLang="ru-RU" sz="2700" dirty="0">
                <a:latin typeface="Arial" panose="020B0604020202020204" pitchFamily="34" charset="0"/>
                <a:cs typeface="Arial" panose="020B0604020202020204" pitchFamily="34" charset="0"/>
              </a:rPr>
              <a:t>Фёкла, сумма и т.д.</a:t>
            </a:r>
          </a:p>
          <a:p>
            <a:pPr indent="360363"/>
            <a:r>
              <a:rPr lang="ru-RU" altLang="ru-RU" sz="2700" dirty="0">
                <a:latin typeface="Arial" panose="020B0604020202020204" pitchFamily="34" charset="0"/>
                <a:cs typeface="Arial" panose="020B0604020202020204" pitchFamily="34" charset="0"/>
              </a:rPr>
              <a:t>Также можно представлять символ с помощью его кода в шестнадцатеричном виде с префиксом \u, например, \u00F2.</a:t>
            </a:r>
          </a:p>
        </p:txBody>
      </p:sp>
    </p:spTree>
    <p:extLst>
      <p:ext uri="{BB962C8B-B14F-4D97-AF65-F5344CB8AC3E}">
        <p14:creationId xmlns:p14="http://schemas.microsoft.com/office/powerpoint/2010/main" val="12554610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426368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Ключевые слова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789831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265113"/>
            <a:r>
              <a:rPr lang="ru-RU" altLang="ru-RU" sz="2800" i="1" dirty="0">
                <a:latin typeface="Arial" panose="020B0604020202020204" pitchFamily="34" charset="0"/>
                <a:cs typeface="Arial" panose="020B0604020202020204" pitchFamily="34" charset="0"/>
              </a:rPr>
              <a:t>Ключевые слова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 — это зарезервированные идентификаторы, которые имеют специальное значение для компилятора. Их можно использовать только в том смысле, в котором они определены.</a:t>
            </a:r>
          </a:p>
        </p:txBody>
      </p:sp>
    </p:spTree>
    <p:extLst>
      <p:ext uri="{BB962C8B-B14F-4D97-AF65-F5344CB8AC3E}">
        <p14:creationId xmlns:p14="http://schemas.microsoft.com/office/powerpoint/2010/main" val="227015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0793224-FDE3-43ED-903F-B801B4F62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11931"/>
            <a:ext cx="5826125" cy="643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015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Константы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268760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265113"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В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C# 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константы (</a:t>
            </a:r>
            <a:r>
              <a:rPr lang="ru-RU" sz="2800" dirty="0" err="1">
                <a:latin typeface="Arial" pitchFamily="34" charset="0"/>
                <a:cs typeface="Arial" pitchFamily="34" charset="0"/>
              </a:rPr>
              <a:t>литераты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) объявляются:</a:t>
            </a:r>
          </a:p>
          <a:p>
            <a:pPr>
              <a:defRPr/>
            </a:pP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const &lt;</a:t>
            </a: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тип данных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&lt;</a:t>
            </a: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имя константы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=</a:t>
            </a: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&lt;</a:t>
            </a: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значение константы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&gt;;</a:t>
            </a:r>
            <a:endParaRPr lang="ru-RU" sz="2800" b="1" dirty="0">
              <a:solidFill>
                <a:schemeClr val="tx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Например:</a:t>
            </a:r>
          </a:p>
          <a:p>
            <a:pPr>
              <a:defRPr/>
            </a:pPr>
            <a:r>
              <a:rPr lang="en-US" sz="2800" dirty="0"/>
              <a:t>const int x = 55; </a:t>
            </a:r>
            <a:endParaRPr lang="ru-RU" sz="2800" dirty="0"/>
          </a:p>
          <a:p>
            <a:pPr>
              <a:defRPr/>
            </a:pPr>
            <a:r>
              <a:rPr lang="en-US" sz="2800" dirty="0"/>
              <a:t>const double pi = 3.1415926535897932384626; </a:t>
            </a:r>
            <a:r>
              <a:rPr lang="ru-RU" sz="2600" dirty="0">
                <a:solidFill>
                  <a:schemeClr val="accent1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27015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Константы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268760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265113"/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Константы в 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C#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бывают: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логические;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целые;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вещественные;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символьные;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строковые;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константа 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(ссылка, которая не указывает ни на какой объект).</a:t>
            </a:r>
          </a:p>
        </p:txBody>
      </p:sp>
    </p:spTree>
    <p:extLst>
      <p:ext uri="{BB962C8B-B14F-4D97-AF65-F5344CB8AC3E}">
        <p14:creationId xmlns:p14="http://schemas.microsoft.com/office/powerpoint/2010/main" val="227015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115616" y="404664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265113"/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 константам относят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 управляющие последовательности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A427A4E-8E28-443A-8C3D-3D4484433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813980"/>
              </p:ext>
            </p:extLst>
          </p:nvPr>
        </p:nvGraphicFramePr>
        <p:xfrm>
          <a:off x="2051720" y="1412776"/>
          <a:ext cx="6096000" cy="4511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9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Arial" pitchFamily="34" charset="0"/>
                          <a:cs typeface="Arial" pitchFamily="34" charset="0"/>
                        </a:rPr>
                        <a:t>Вид</a:t>
                      </a:r>
                    </a:p>
                  </a:txBody>
                  <a:tcPr marL="19050" marR="19050" marT="19053" marB="190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Arial" pitchFamily="34" charset="0"/>
                          <a:cs typeface="Arial" pitchFamily="34" charset="0"/>
                        </a:rPr>
                        <a:t>Наименование</a:t>
                      </a:r>
                    </a:p>
                  </a:txBody>
                  <a:tcPr marL="19050" marR="19050" marT="19053" marB="1905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8B0000"/>
                          </a:solidFill>
                          <a:latin typeface="Arial" pitchFamily="34" charset="0"/>
                          <a:cs typeface="Arial" pitchFamily="34" charset="0"/>
                        </a:rPr>
                        <a:t>\a</a:t>
                      </a:r>
                      <a:endParaRPr lang="en-US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050" marR="19050" marT="19053" marB="19053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Arial" pitchFamily="34" charset="0"/>
                          <a:cs typeface="Arial" pitchFamily="34" charset="0"/>
                        </a:rPr>
                        <a:t>Звуковой сигнал</a:t>
                      </a:r>
                    </a:p>
                  </a:txBody>
                  <a:tcPr marL="19050" marR="19050" marT="19053" marB="1905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82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8B0000"/>
                          </a:solidFill>
                          <a:latin typeface="Arial" pitchFamily="34" charset="0"/>
                          <a:cs typeface="Arial" pitchFamily="34" charset="0"/>
                        </a:rPr>
                        <a:t>\b</a:t>
                      </a:r>
                      <a:endParaRPr lang="en-US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050" marR="19050" marT="19053" marB="19053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Arial" pitchFamily="34" charset="0"/>
                          <a:cs typeface="Arial" pitchFamily="34" charset="0"/>
                        </a:rPr>
                        <a:t>Удаляет</a:t>
                      </a:r>
                      <a:r>
                        <a:rPr lang="ru-RU" sz="1800" baseline="0" dirty="0">
                          <a:latin typeface="Arial" pitchFamily="34" charset="0"/>
                          <a:cs typeface="Arial" pitchFamily="34" charset="0"/>
                        </a:rPr>
                        <a:t> символ перед управляющей последовательностью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050" marR="19050" marT="19053" marB="1905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8B0000"/>
                          </a:solidFill>
                          <a:latin typeface="Arial" pitchFamily="34" charset="0"/>
                          <a:cs typeface="Arial" pitchFamily="34" charset="0"/>
                        </a:rPr>
                        <a:t>\n</a:t>
                      </a:r>
                      <a:endParaRPr lang="en-US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050" marR="19050" marT="19053" marB="19053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Arial" pitchFamily="34" charset="0"/>
                          <a:cs typeface="Arial" pitchFamily="34" charset="0"/>
                        </a:rPr>
                        <a:t>Переход на новую строку</a:t>
                      </a:r>
                    </a:p>
                  </a:txBody>
                  <a:tcPr marL="19050" marR="19050" marT="19053" marB="1905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82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8B0000"/>
                          </a:solidFill>
                          <a:latin typeface="Arial" pitchFamily="34" charset="0"/>
                          <a:cs typeface="Arial" pitchFamily="34" charset="0"/>
                        </a:rPr>
                        <a:t>\r</a:t>
                      </a:r>
                      <a:endParaRPr lang="en-US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050" marR="19050" marT="19053" marB="19053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Arial" pitchFamily="34" charset="0"/>
                          <a:cs typeface="Arial" pitchFamily="34" charset="0"/>
                        </a:rPr>
                        <a:t>Вывод с того места, где стоит управляющая последовательность</a:t>
                      </a:r>
                    </a:p>
                  </a:txBody>
                  <a:tcPr marL="19050" marR="19050" marT="19053" marB="1905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8B0000"/>
                          </a:solidFill>
                          <a:latin typeface="Arial" pitchFamily="34" charset="0"/>
                          <a:cs typeface="Arial" pitchFamily="34" charset="0"/>
                        </a:rPr>
                        <a:t>\t</a:t>
                      </a:r>
                      <a:endParaRPr lang="en-US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050" marR="19050" marT="19053" marB="19053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Arial" pitchFamily="34" charset="0"/>
                          <a:cs typeface="Arial" pitchFamily="34" charset="0"/>
                        </a:rPr>
                        <a:t>Горизонтальная табуляция</a:t>
                      </a:r>
                    </a:p>
                  </a:txBody>
                  <a:tcPr marL="19050" marR="19050" marT="19053" marB="1905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8B0000"/>
                          </a:solidFill>
                          <a:latin typeface="Arial" pitchFamily="34" charset="0"/>
                          <a:cs typeface="Arial" pitchFamily="34" charset="0"/>
                        </a:rPr>
                        <a:t>\v</a:t>
                      </a:r>
                      <a:endParaRPr lang="en-US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050" marR="19050" marT="19053" marB="19053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Arial" pitchFamily="34" charset="0"/>
                          <a:cs typeface="Arial" pitchFamily="34" charset="0"/>
                        </a:rPr>
                        <a:t>Вертикальная табуляция</a:t>
                      </a:r>
                    </a:p>
                  </a:txBody>
                  <a:tcPr marL="19050" marR="19050" marT="19053" marB="1905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rgbClr val="8B0000"/>
                          </a:solidFill>
                          <a:latin typeface="Arial" pitchFamily="34" charset="0"/>
                          <a:cs typeface="Arial" pitchFamily="34" charset="0"/>
                        </a:rPr>
                        <a:t>\\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050" marR="19050" marT="19053" marB="19053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Arial" pitchFamily="34" charset="0"/>
                          <a:cs typeface="Arial" pitchFamily="34" charset="0"/>
                        </a:rPr>
                        <a:t>Обратная косая черта</a:t>
                      </a:r>
                    </a:p>
                  </a:txBody>
                  <a:tcPr marL="19050" marR="19050" marT="19053" marB="1905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rgbClr val="8B0000"/>
                          </a:solidFill>
                          <a:latin typeface="Arial" pitchFamily="34" charset="0"/>
                          <a:cs typeface="Arial" pitchFamily="34" charset="0"/>
                        </a:rPr>
                        <a:t>\'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050" marR="19050" marT="19053" marB="19053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Arial" pitchFamily="34" charset="0"/>
                          <a:cs typeface="Arial" pitchFamily="34" charset="0"/>
                        </a:rPr>
                        <a:t>Апостроф</a:t>
                      </a:r>
                    </a:p>
                  </a:txBody>
                  <a:tcPr marL="19050" marR="19050" marT="19053" marB="1905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rgbClr val="8B0000"/>
                          </a:solidFill>
                          <a:latin typeface="Arial" pitchFamily="34" charset="0"/>
                          <a:cs typeface="Arial" pitchFamily="34" charset="0"/>
                        </a:rPr>
                        <a:t>\"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050" marR="19050" marT="19053" marB="19053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Arial" pitchFamily="34" charset="0"/>
                          <a:cs typeface="Arial" pitchFamily="34" charset="0"/>
                        </a:rPr>
                        <a:t>Кавычка</a:t>
                      </a:r>
                    </a:p>
                  </a:txBody>
                  <a:tcPr marL="19050" marR="19050" marT="19053" marB="19053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rgbClr val="8B0000"/>
                          </a:solidFill>
                          <a:latin typeface="Arial" pitchFamily="34" charset="0"/>
                          <a:cs typeface="Arial" pitchFamily="34" charset="0"/>
                        </a:rPr>
                        <a:t>\0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050" marR="19050" marT="19053" marB="19053"/>
                </a:tc>
                <a:tc>
                  <a:txBody>
                    <a:bodyPr/>
                    <a:lstStyle/>
                    <a:p>
                      <a:r>
                        <a:rPr lang="ru-RU" sz="1800" i="1" dirty="0">
                          <a:latin typeface="Arial" pitchFamily="34" charset="0"/>
                          <a:cs typeface="Arial" pitchFamily="34" charset="0"/>
                        </a:rPr>
                        <a:t>Нуль-символ (пробел)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9050" marR="19050" marT="19053" marB="19053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15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Переменные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331640" y="1268760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265113"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В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C# 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переменные объявляются:</a:t>
            </a:r>
          </a:p>
          <a:p>
            <a:pPr>
              <a:defRPr/>
            </a:pP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&lt;</a:t>
            </a: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тип данных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&lt;</a:t>
            </a:r>
            <a:r>
              <a:rPr lang="ru-RU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имя переменной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&gt;;</a:t>
            </a:r>
            <a:endParaRPr lang="ru-RU" sz="2800" b="1" dirty="0">
              <a:solidFill>
                <a:schemeClr val="tx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ru-RU" sz="2800" dirty="0">
                <a:latin typeface="Arial" pitchFamily="34" charset="0"/>
                <a:cs typeface="Arial" pitchFamily="34" charset="0"/>
              </a:rPr>
              <a:t>Например:</a:t>
            </a:r>
          </a:p>
          <a:p>
            <a:pPr>
              <a:defRPr/>
            </a:pPr>
            <a:r>
              <a:rPr lang="en-US" sz="2800" dirty="0"/>
              <a:t>int x; </a:t>
            </a:r>
          </a:p>
          <a:p>
            <a:pPr>
              <a:defRPr/>
            </a:pPr>
            <a:r>
              <a:rPr lang="en-US" sz="2800" dirty="0"/>
              <a:t>float </a:t>
            </a:r>
            <a:r>
              <a:rPr lang="en-US" sz="2800" dirty="0" err="1"/>
              <a:t>a,b</a:t>
            </a:r>
            <a:r>
              <a:rPr lang="en-US" sz="2800" dirty="0"/>
              <a:t>;</a:t>
            </a:r>
          </a:p>
          <a:p>
            <a:pPr>
              <a:defRPr/>
            </a:pPr>
            <a:r>
              <a:rPr lang="en-US" sz="2800" dirty="0"/>
              <a:t>int z=10, y=15;</a:t>
            </a:r>
            <a:endParaRPr lang="ru-RU" sz="26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15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6C209B3-4960-4EC0-BC6A-655FA99BC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656" y="836712"/>
            <a:ext cx="7458032" cy="5411688"/>
          </a:xfrm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ru-RU" dirty="0"/>
              <a:t>Ключевое слово </a:t>
            </a:r>
            <a:r>
              <a:rPr lang="en-US" b="1" dirty="0"/>
              <a:t>var</a:t>
            </a:r>
            <a:r>
              <a:rPr lang="ru-RU" dirty="0"/>
              <a:t> позволяет создавать переменные без явного указания типа данных. Тип данных такой переменной определяет компилятор по контексту инициализации.</a:t>
            </a:r>
            <a:br>
              <a:rPr lang="ru-RU" dirty="0"/>
            </a:br>
            <a:br>
              <a:rPr lang="ru-RU" dirty="0"/>
            </a:br>
            <a:r>
              <a:rPr lang="en-US" dirty="0"/>
              <a:t>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 var number = 5; // number </a:t>
            </a:r>
            <a:r>
              <a:rPr lang="ru-RU" dirty="0"/>
              <a:t>будет типа </a:t>
            </a:r>
            <a:r>
              <a:rPr lang="en-US" dirty="0"/>
              <a:t>int</a:t>
            </a:r>
            <a:br>
              <a:rPr lang="en-US" dirty="0"/>
            </a:br>
            <a:r>
              <a:rPr lang="en-US" dirty="0"/>
              <a:t> var text ="some text"; // text </a:t>
            </a:r>
            <a:r>
              <a:rPr lang="ru-RU" dirty="0"/>
              <a:t>будет типа </a:t>
            </a:r>
            <a:r>
              <a:rPr lang="en-US" dirty="0"/>
              <a:t>string</a:t>
            </a:r>
            <a:br>
              <a:rPr lang="en-US" dirty="0"/>
            </a:br>
            <a:r>
              <a:rPr lang="en-US" dirty="0"/>
              <a:t>  var number2 = 0.5; // number2 </a:t>
            </a:r>
            <a:r>
              <a:rPr lang="ru-RU" dirty="0"/>
              <a:t>будет типа </a:t>
            </a:r>
            <a:r>
              <a:rPr lang="en-US" dirty="0"/>
              <a:t>double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82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56084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400" dirty="0">
                <a:solidFill>
                  <a:srgbClr val="0070C0"/>
                </a:solidFill>
              </a:rPr>
              <a:t>Некоторые типы данных С</a:t>
            </a:r>
            <a:r>
              <a:rPr lang="en-US" sz="4400" dirty="0">
                <a:solidFill>
                  <a:srgbClr val="0070C0"/>
                </a:solidFill>
              </a:rPr>
              <a:t>#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pic>
        <p:nvPicPr>
          <p:cNvPr id="5" name="Объект 3">
            <a:extLst>
              <a:ext uri="{FF2B5EF4-FFF2-40B4-BE49-F238E27FC236}">
                <a16:creationId xmlns:a16="http://schemas.microsoft.com/office/drawing/2014/main" id="{53E49783-24D6-4D7D-8F5A-C624FCBCB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980728"/>
            <a:ext cx="7016884" cy="507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5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Типы данных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511349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pPr indent="265113"/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 простым типам относятся типы вроде числовых и булевских значений.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27BFC78-5AA5-47AF-B221-449C8561D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246364"/>
              </p:ext>
            </p:extLst>
          </p:nvPr>
        </p:nvGraphicFramePr>
        <p:xfrm>
          <a:off x="1328192" y="2516391"/>
          <a:ext cx="7705104" cy="3996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5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Целочисленные типы</a:t>
                      </a:r>
                    </a:p>
                  </a:txBody>
                  <a:tcPr marL="91439" marR="91439"/>
                </a:tc>
                <a:tc hMerge="1">
                  <a:txBody>
                    <a:bodyPr/>
                    <a:lstStyle/>
                    <a:p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Тип</a:t>
                      </a:r>
                    </a:p>
                  </a:txBody>
                  <a:tcPr marL="91439" marR="91439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Допустимые значения</a:t>
                      </a:r>
                    </a:p>
                  </a:txBody>
                  <a:tcPr marL="91439" marR="91439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sbyte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Целые числа от -128 до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 127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byte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Целые числа от 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0 </a:t>
                      </a:r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до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 255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369">
                <a:tc>
                  <a:txBody>
                    <a:bodyPr/>
                    <a:lstStyle/>
                    <a:p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short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Целые числа от -32768 до 32767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ushort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Целые числа от 0 до 65535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Целые числа от -2147483648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 до </a:t>
                      </a:r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2147483647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Arial" pitchFamily="34" charset="0"/>
                          <a:cs typeface="Arial" pitchFamily="34" charset="0"/>
                        </a:rPr>
                        <a:t>uint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Целые числа от 0 до 4294967295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long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Целые числа от -9223372036854775808 до -9223372036854775807 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ulong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Целые числа от 0 до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 18446744073709551615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altLang="ru-RU" sz="4400" dirty="0">
                <a:latin typeface="Arial" panose="020B0604020202020204" pitchFamily="34" charset="0"/>
                <a:cs typeface="Arial" panose="020B0604020202020204" pitchFamily="34" charset="0"/>
              </a:rPr>
              <a:t>Типы данных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DD62603-C68B-4E43-8574-683BDAF72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472044"/>
              </p:ext>
            </p:extLst>
          </p:nvPr>
        </p:nvGraphicFramePr>
        <p:xfrm>
          <a:off x="1367064" y="1152144"/>
          <a:ext cx="7192630" cy="239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2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271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Arial" pitchFamily="34" charset="0"/>
                          <a:cs typeface="Arial" pitchFamily="34" charset="0"/>
                        </a:rPr>
                        <a:t>Типы переменных для хранения чисел с плавающей запятой (вещественные)</a:t>
                      </a:r>
                    </a:p>
                  </a:txBody>
                  <a:tcPr marL="91439" marR="91439" marT="45734" marB="45734"/>
                </a:tc>
                <a:tc hMerge="1">
                  <a:txBody>
                    <a:bodyPr/>
                    <a:lstStyle/>
                    <a:p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Тип</a:t>
                      </a:r>
                    </a:p>
                  </a:txBody>
                  <a:tcPr marL="91439" marR="91439" marT="45734" marB="45734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Приблиз. мин. значение</a:t>
                      </a:r>
                    </a:p>
                  </a:txBody>
                  <a:tcPr marL="91439" marR="91439" marT="45734" marB="45734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Приблиз. макс. значение</a:t>
                      </a:r>
                    </a:p>
                  </a:txBody>
                  <a:tcPr marL="91439" marR="91439" marT="45734" marB="45734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itchFamily="34" charset="0"/>
                          <a:cs typeface="Arial" pitchFamily="34" charset="0"/>
                        </a:rPr>
                        <a:t>float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1.5x10</a:t>
                      </a:r>
                      <a:r>
                        <a:rPr lang="en-US" sz="1800" baseline="30000" dirty="0">
                          <a:latin typeface="Arial" pitchFamily="34" charset="0"/>
                          <a:cs typeface="Arial" pitchFamily="34" charset="0"/>
                        </a:rPr>
                        <a:t>-45</a:t>
                      </a:r>
                      <a:endParaRPr lang="ru-RU" sz="1800" baseline="30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3.4x10</a:t>
                      </a:r>
                      <a:r>
                        <a:rPr lang="en-US" sz="1800" baseline="30000" dirty="0">
                          <a:latin typeface="Arial" pitchFamily="34" charset="0"/>
                          <a:cs typeface="Arial" pitchFamily="34" charset="0"/>
                        </a:rPr>
                        <a:t>38</a:t>
                      </a:r>
                      <a:endParaRPr lang="ru-RU" sz="1800" baseline="30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itchFamily="34" charset="0"/>
                          <a:cs typeface="Arial" pitchFamily="34" charset="0"/>
                        </a:rPr>
                        <a:t>double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5.0x10</a:t>
                      </a:r>
                      <a:r>
                        <a:rPr lang="en-US" sz="1800" baseline="30000" dirty="0">
                          <a:latin typeface="Arial" pitchFamily="34" charset="0"/>
                          <a:cs typeface="Arial" pitchFamily="34" charset="0"/>
                        </a:rPr>
                        <a:t>-324</a:t>
                      </a:r>
                      <a:endParaRPr lang="ru-RU" sz="1800" baseline="30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1.7x10</a:t>
                      </a:r>
                      <a:r>
                        <a:rPr lang="en-US" sz="1800" baseline="30000" dirty="0">
                          <a:latin typeface="Arial" pitchFamily="34" charset="0"/>
                          <a:cs typeface="Arial" pitchFamily="34" charset="0"/>
                        </a:rPr>
                        <a:t>308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 marT="45734" marB="457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decimal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1.0x10</a:t>
                      </a:r>
                      <a:r>
                        <a:rPr lang="en-US" sz="1800" baseline="30000" dirty="0">
                          <a:latin typeface="Arial" pitchFamily="34" charset="0"/>
                          <a:cs typeface="Arial" pitchFamily="34" charset="0"/>
                        </a:rPr>
                        <a:t>-28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7.9x10</a:t>
                      </a:r>
                      <a:r>
                        <a:rPr lang="en-US" sz="1800" baseline="30000" dirty="0">
                          <a:latin typeface="Arial" pitchFamily="34" charset="0"/>
                          <a:cs typeface="Arial" pitchFamily="34" charset="0"/>
                        </a:rPr>
                        <a:t>28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39" marR="91439" marT="45734" marB="4573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D857035-A5E0-4580-A09B-1602D51AA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82711"/>
              </p:ext>
            </p:extLst>
          </p:nvPr>
        </p:nvGraphicFramePr>
        <p:xfrm>
          <a:off x="1331641" y="3581781"/>
          <a:ext cx="7228054" cy="2124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5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51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Arial" pitchFamily="34" charset="0"/>
                          <a:cs typeface="Arial" pitchFamily="34" charset="0"/>
                        </a:rPr>
                        <a:t>Нечисловые простые типы</a:t>
                      </a:r>
                    </a:p>
                  </a:txBody>
                  <a:tcPr marL="91445" marR="91445" marT="45734" marB="45734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Тип</a:t>
                      </a:r>
                    </a:p>
                  </a:txBody>
                  <a:tcPr marL="91445" marR="91445" marT="45734" marB="45734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Допустимые</a:t>
                      </a:r>
                      <a:r>
                        <a:rPr lang="ru-RU" sz="1800" baseline="0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 значения</a:t>
                      </a:r>
                      <a:endParaRPr lang="ru-RU" sz="1800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5" marR="91445" marT="45734" marB="45734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7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char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5" marR="91445" marT="45734" marB="45734"/>
                </a:tc>
                <a:tc>
                  <a:txBody>
                    <a:bodyPr/>
                    <a:lstStyle/>
                    <a:p>
                      <a:r>
                        <a:rPr lang="ru-RU" sz="1800" baseline="0" dirty="0">
                          <a:latin typeface="Arial" pitchFamily="34" charset="0"/>
                          <a:cs typeface="Arial" pitchFamily="34" charset="0"/>
                        </a:rPr>
                        <a:t>Одиночный символ </a:t>
                      </a:r>
                      <a:r>
                        <a:rPr lang="en-US" sz="1800" baseline="0" dirty="0">
                          <a:latin typeface="Arial" pitchFamily="34" charset="0"/>
                          <a:cs typeface="Arial" pitchFamily="34" charset="0"/>
                        </a:rPr>
                        <a:t>Unicode</a:t>
                      </a:r>
                      <a:r>
                        <a:rPr lang="ru-RU" sz="1800" baseline="0" dirty="0">
                          <a:latin typeface="Arial" pitchFamily="34" charset="0"/>
                          <a:cs typeface="Arial" pitchFamily="34" charset="0"/>
                        </a:rPr>
                        <a:t>, хранимый в виде целого числа от 0 до 65535</a:t>
                      </a:r>
                    </a:p>
                  </a:txBody>
                  <a:tcPr marL="91445" marR="91445" marT="45734" marB="45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itchFamily="34" charset="0"/>
                          <a:cs typeface="Arial" pitchFamily="34" charset="0"/>
                        </a:rPr>
                        <a:t>bool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5" marR="91445" marT="45734" marB="4573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aseline="0" dirty="0">
                          <a:latin typeface="Arial" pitchFamily="34" charset="0"/>
                          <a:cs typeface="Arial" pitchFamily="34" charset="0"/>
                        </a:rPr>
                        <a:t>Булево значение – </a:t>
                      </a:r>
                      <a:r>
                        <a:rPr lang="en-US" sz="1800" baseline="0" dirty="0">
                          <a:latin typeface="Arial" pitchFamily="34" charset="0"/>
                          <a:cs typeface="Arial" pitchFamily="34" charset="0"/>
                        </a:rPr>
                        <a:t>true </a:t>
                      </a:r>
                      <a:r>
                        <a:rPr lang="ru-RU" sz="1800" baseline="0" dirty="0">
                          <a:latin typeface="Arial" pitchFamily="34" charset="0"/>
                          <a:cs typeface="Arial" pitchFamily="34" charset="0"/>
                        </a:rPr>
                        <a:t>либо </a:t>
                      </a:r>
                      <a:r>
                        <a:rPr lang="en-US" sz="1800" baseline="0" dirty="0"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lang="ru-RU" sz="1800" baseline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5" marR="91445" marT="45734" marB="457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5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string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5" marR="91445" marT="45734" marB="4573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aseline="0" dirty="0">
                          <a:latin typeface="Arial" pitchFamily="34" charset="0"/>
                          <a:cs typeface="Arial" pitchFamily="34" charset="0"/>
                        </a:rPr>
                        <a:t>Последовательность символов</a:t>
                      </a:r>
                    </a:p>
                  </a:txBody>
                  <a:tcPr marL="91445" marR="91445" marT="45734" marB="4573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547664" y="476672"/>
            <a:ext cx="6878910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000" dirty="0">
                <a:solidFill>
                  <a:srgbClr val="0070C0"/>
                </a:solidFill>
              </a:rPr>
              <a:t>Примеры объявления переменной</a:t>
            </a:r>
            <a:endParaRPr lang="ru-RU" sz="40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pic>
        <p:nvPicPr>
          <p:cNvPr id="5" name="Объект 3">
            <a:extLst>
              <a:ext uri="{FF2B5EF4-FFF2-40B4-BE49-F238E27FC236}">
                <a16:creationId xmlns:a16="http://schemas.microsoft.com/office/drawing/2014/main" id="{3FF9CE0F-3ECD-4BF0-B0C1-73712CF95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88" y="1772816"/>
            <a:ext cx="8101532" cy="381642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1006A33-EEA7-4D71-8BE0-77D6B355F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40" y="980728"/>
            <a:ext cx="7498080" cy="4800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При использовании переменной, в которую не было записано значение, компилятор выдаст ошибку "</a:t>
            </a:r>
            <a:r>
              <a:rPr lang="en-US" dirty="0"/>
              <a:t>Use of unassigned local variable [</a:t>
            </a:r>
            <a:r>
              <a:rPr lang="en-US" dirty="0" err="1"/>
              <a:t>variableName</a:t>
            </a:r>
            <a:r>
              <a:rPr lang="en-US" dirty="0"/>
              <a:t>]".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   int a;</a:t>
            </a:r>
            <a:br>
              <a:rPr lang="en-US" dirty="0"/>
            </a:br>
            <a:r>
              <a:rPr lang="en-US" dirty="0"/>
              <a:t>   </a:t>
            </a:r>
            <a:r>
              <a:rPr lang="en-US" dirty="0" err="1"/>
              <a:t>Console.WriteLine</a:t>
            </a:r>
            <a:r>
              <a:rPr lang="en-US" dirty="0"/>
              <a:t>(a); //</a:t>
            </a:r>
            <a:r>
              <a:rPr lang="ru-RU" dirty="0"/>
              <a:t>ошибка</a:t>
            </a:r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 err="1"/>
              <a:t>Console.ReadKey</a:t>
            </a:r>
            <a:r>
              <a:rPr lang="en-US" dirty="0"/>
              <a:t>();	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pPr marL="82296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169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34EDAE-E3D6-461E-8BB7-E1C64249C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>
                <a:latin typeface="Arial" panose="020B0604020202020204" pitchFamily="34" charset="0"/>
                <a:cs typeface="Arial" panose="020B0604020202020204" pitchFamily="34" charset="0"/>
              </a:rPr>
              <a:t>Преобразование типов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EEFC95-6889-4835-B9BE-FA8A7B8BD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265113"/>
            <a:r>
              <a:rPr lang="ru-RU" altLang="ru-RU" dirty="0">
                <a:latin typeface="Arial" panose="020B0604020202020204" pitchFamily="34" charset="0"/>
                <a:cs typeface="Arial" panose="020B0604020202020204" pitchFamily="34" charset="0"/>
              </a:rPr>
              <a:t>Неявное преобразование: применяется, когда преобразование из типа А в тип В возможно при любых обстоятельствах, а правила выполнения преобразования достаточно просты для того, чтобы доверить их компилятору.</a:t>
            </a:r>
          </a:p>
          <a:p>
            <a:pPr marL="0" indent="265113"/>
            <a:r>
              <a:rPr lang="ru-RU" altLang="ru-RU" dirty="0">
                <a:latin typeface="Arial" panose="020B0604020202020204" pitchFamily="34" charset="0"/>
                <a:cs typeface="Arial" panose="020B0604020202020204" pitchFamily="34" charset="0"/>
              </a:rPr>
              <a:t>Явное преобразование: применяется, когда преобразование из типа А в тип В возможно только при определенных обстоятельствах или когда правила преобразования довольно сложны и требуют дополнительной обработки.</a:t>
            </a:r>
          </a:p>
          <a:p>
            <a:pPr marL="82296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5528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F6C38B1-416C-43C0-84ED-561171199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>
                <a:latin typeface="Arial" panose="020B0604020202020204" pitchFamily="34" charset="0"/>
                <a:cs typeface="Arial" panose="020B0604020202020204" pitchFamily="34" charset="0"/>
              </a:rPr>
              <a:t>Неявные преобразования</a:t>
            </a:r>
            <a:endParaRPr lang="ru-RU" dirty="0"/>
          </a:p>
        </p:txBody>
      </p:sp>
      <p:graphicFrame>
        <p:nvGraphicFramePr>
          <p:cNvPr id="6" name="Содержимое 3">
            <a:extLst>
              <a:ext uri="{FF2B5EF4-FFF2-40B4-BE49-F238E27FC236}">
                <a16:creationId xmlns:a16="http://schemas.microsoft.com/office/drawing/2014/main" id="{9D66243E-5354-4E52-849E-76B1AF5A4BC4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507739254"/>
              </p:ext>
            </p:extLst>
          </p:nvPr>
        </p:nvGraphicFramePr>
        <p:xfrm>
          <a:off x="1115616" y="1417638"/>
          <a:ext cx="7993063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2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Arial" pitchFamily="34" charset="0"/>
                          <a:cs typeface="Arial" pitchFamily="34" charset="0"/>
                        </a:rPr>
                        <a:t>Неявные числовые преобразования</a:t>
                      </a:r>
                    </a:p>
                  </a:txBody>
                  <a:tcPr marT="45717" marB="45717"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Тип</a:t>
                      </a:r>
                    </a:p>
                  </a:txBody>
                  <a:tcPr marT="45717" marB="45717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Может быть безопасно преобразован в тип</a:t>
                      </a:r>
                    </a:p>
                  </a:txBody>
                  <a:tcPr marT="45717" marB="45717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itchFamily="34" charset="0"/>
                          <a:cs typeface="Arial" pitchFamily="34" charset="0"/>
                        </a:rPr>
                        <a:t>byte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short, </a:t>
                      </a: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ushort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</a:t>
                      </a: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</a:t>
                      </a: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uint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long, </a:t>
                      </a: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ulong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float, double, decimal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sbyte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short, </a:t>
                      </a: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long, float, double, decimal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itchFamily="34" charset="0"/>
                          <a:cs typeface="Arial" pitchFamily="34" charset="0"/>
                        </a:rPr>
                        <a:t>short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long, float, double, decimal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ushort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</a:t>
                      </a: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uint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long, </a:t>
                      </a: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ulong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float, double, decimal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long, float, double, decimal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uint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long, </a:t>
                      </a: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ulong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float, double, decimal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itchFamily="34" charset="0"/>
                          <a:cs typeface="Arial" pitchFamily="34" charset="0"/>
                        </a:rPr>
                        <a:t>long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float, double, decimal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ulong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float, double, decimal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itchFamily="34" charset="0"/>
                          <a:cs typeface="Arial" pitchFamily="34" charset="0"/>
                        </a:rPr>
                        <a:t>float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double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char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ushort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</a:t>
                      </a: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</a:t>
                      </a: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uint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long, </a:t>
                      </a:r>
                      <a:r>
                        <a:rPr lang="en-US" sz="1800" dirty="0" err="1">
                          <a:latin typeface="Arial" pitchFamily="34" charset="0"/>
                          <a:cs typeface="Arial" pitchFamily="34" charset="0"/>
                        </a:rPr>
                        <a:t>ulong</a:t>
                      </a:r>
                      <a:r>
                        <a:rPr lang="en-US" sz="1800" dirty="0">
                          <a:latin typeface="Arial" pitchFamily="34" charset="0"/>
                          <a:cs typeface="Arial" pitchFamily="34" charset="0"/>
                        </a:rPr>
                        <a:t>, float, double, decimal</a:t>
                      </a:r>
                      <a:endParaRPr lang="ru-RU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387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99D49C-D4EF-4048-97B2-971C611F6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>
                <a:latin typeface="Arial" panose="020B0604020202020204" pitchFamily="34" charset="0"/>
                <a:cs typeface="Arial" panose="020B0604020202020204" pitchFamily="34" charset="0"/>
              </a:rPr>
              <a:t>Явные преобразования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9719A8-D250-4262-AD81-2EA48D84E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60363">
              <a:buFont typeface="Wingdings 2" panose="05020102010507070707" pitchFamily="18" charset="2"/>
              <a:buNone/>
              <a:defRPr/>
            </a:pPr>
            <a:r>
              <a:rPr lang="ru-RU" b="1" dirty="0">
                <a:latin typeface="Arial" pitchFamily="34" charset="0"/>
                <a:cs typeface="Arial" pitchFamily="34" charset="0"/>
              </a:rPr>
              <a:t>1 способ: </a:t>
            </a:r>
            <a:r>
              <a:rPr lang="ru-RU" dirty="0">
                <a:latin typeface="Arial" pitchFamily="34" charset="0"/>
                <a:cs typeface="Arial" pitchFamily="34" charset="0"/>
              </a:rPr>
              <a:t>приведение переменной</a:t>
            </a:r>
          </a:p>
          <a:p>
            <a:pPr marL="0" indent="360363">
              <a:buFont typeface="Wingdings 2" panose="05020102010507070707" pitchFamily="18" charset="2"/>
              <a:buNone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(</a:t>
            </a:r>
            <a:r>
              <a:rPr lang="ru-RU" dirty="0">
                <a:latin typeface="Arial" pitchFamily="34" charset="0"/>
                <a:cs typeface="Arial" pitchFamily="34" charset="0"/>
              </a:rPr>
              <a:t>целевой тип</a:t>
            </a:r>
            <a:r>
              <a:rPr lang="en-US" dirty="0">
                <a:latin typeface="Arial" pitchFamily="34" charset="0"/>
                <a:cs typeface="Arial" pitchFamily="34" charset="0"/>
              </a:rPr>
              <a:t>)</a:t>
            </a:r>
            <a:r>
              <a:rPr lang="ru-RU" dirty="0">
                <a:latin typeface="Arial" pitchFamily="34" charset="0"/>
                <a:cs typeface="Arial" pitchFamily="34" charset="0"/>
              </a:rPr>
              <a:t> исходная переменная</a:t>
            </a:r>
          </a:p>
          <a:p>
            <a:pPr marL="0" indent="360363">
              <a:buFont typeface="Wingdings 2" panose="05020102010507070707" pitchFamily="18" charset="2"/>
              <a:buNone/>
              <a:defRPr/>
            </a:pPr>
            <a:r>
              <a:rPr lang="ru-RU" b="1" dirty="0">
                <a:solidFill>
                  <a:schemeClr val="tx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Пример: </a:t>
            </a:r>
            <a:r>
              <a:rPr lang="en-US" dirty="0">
                <a:latin typeface="Arial" pitchFamily="34" charset="0"/>
                <a:cs typeface="Arial" pitchFamily="34" charset="0"/>
              </a:rPr>
              <a:t>(float) a;</a:t>
            </a:r>
          </a:p>
          <a:p>
            <a:pPr marL="82296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233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5254" y="405300"/>
            <a:ext cx="7488832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400" dirty="0">
                <a:solidFill>
                  <a:srgbClr val="0070C0"/>
                </a:solidFill>
              </a:rPr>
              <a:t>Приведение встроенных типов данных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331838" y="1844824"/>
            <a:ext cx="7344618" cy="475252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800" dirty="0"/>
              <a:t>Неявное преобразование выполняет компилятор, явное – программист</a:t>
            </a:r>
          </a:p>
          <a:p>
            <a:endParaRPr lang="ru-RU" sz="2800" dirty="0"/>
          </a:p>
          <a:p>
            <a:r>
              <a:rPr lang="ru-RU" sz="2400" dirty="0" err="1"/>
              <a:t>static</a:t>
            </a:r>
            <a:r>
              <a:rPr lang="ru-RU" sz="2400" dirty="0"/>
              <a:t> </a:t>
            </a:r>
            <a:r>
              <a:rPr lang="ru-RU" sz="2400" dirty="0" err="1"/>
              <a:t>void</a:t>
            </a:r>
            <a:r>
              <a:rPr lang="ru-RU" sz="2400" dirty="0"/>
              <a:t> </a:t>
            </a:r>
            <a:r>
              <a:rPr lang="ru-RU" sz="2400" dirty="0" err="1"/>
              <a:t>Main</a:t>
            </a:r>
            <a:r>
              <a:rPr lang="ru-RU" sz="2400" dirty="0"/>
              <a:t>(</a:t>
            </a:r>
            <a:r>
              <a:rPr lang="ru-RU" sz="2400" dirty="0" err="1"/>
              <a:t>string</a:t>
            </a:r>
            <a:r>
              <a:rPr lang="ru-RU" sz="2400" dirty="0"/>
              <a:t>[] </a:t>
            </a:r>
            <a:r>
              <a:rPr lang="ru-RU" sz="2400" dirty="0" err="1"/>
              <a:t>args</a:t>
            </a:r>
            <a:r>
              <a:rPr lang="ru-RU" sz="2400" dirty="0"/>
              <a:t>)</a:t>
            </a:r>
            <a:br>
              <a:rPr lang="ru-RU" sz="2400" dirty="0"/>
            </a:br>
            <a:r>
              <a:rPr lang="ru-RU" sz="2400" dirty="0"/>
              <a:t>{</a:t>
            </a:r>
            <a:br>
              <a:rPr lang="ru-RU" sz="2400" dirty="0"/>
            </a:br>
            <a:r>
              <a:rPr lang="ru-RU" sz="2400" dirty="0"/>
              <a:t>   </a:t>
            </a:r>
            <a:r>
              <a:rPr lang="ru-RU" sz="2400" dirty="0" err="1"/>
              <a:t>int</a:t>
            </a:r>
            <a:r>
              <a:rPr lang="ru-RU" sz="2400" dirty="0"/>
              <a:t> a = 35;</a:t>
            </a:r>
            <a:br>
              <a:rPr lang="ru-RU" sz="2400" dirty="0"/>
            </a:br>
            <a:r>
              <a:rPr lang="ru-RU" sz="2400" dirty="0"/>
              <a:t>   </a:t>
            </a:r>
            <a:r>
              <a:rPr lang="ru-RU" sz="2400" dirty="0" err="1"/>
              <a:t>short</a:t>
            </a:r>
            <a:r>
              <a:rPr lang="ru-RU" sz="2400" dirty="0"/>
              <a:t> b = 10;</a:t>
            </a:r>
            <a:br>
              <a:rPr lang="ru-RU" sz="2400" dirty="0"/>
            </a:br>
            <a:r>
              <a:rPr lang="ru-RU" sz="2400" dirty="0"/>
              <a:t>   a = b; // неявное преобразование, т.к. </a:t>
            </a:r>
            <a:r>
              <a:rPr lang="ru-RU" sz="2400" dirty="0" err="1"/>
              <a:t>int</a:t>
            </a:r>
            <a:r>
              <a:rPr lang="ru-RU" sz="2400" dirty="0"/>
              <a:t> большего размера, чем </a:t>
            </a:r>
            <a:r>
              <a:rPr lang="ru-RU" sz="2400" dirty="0" err="1"/>
              <a:t>short</a:t>
            </a:r>
            <a:r>
              <a:rPr lang="ru-RU" sz="2400" dirty="0"/>
              <a:t> – утери данных не будет</a:t>
            </a:r>
            <a:br>
              <a:rPr lang="ru-RU" sz="2400" dirty="0"/>
            </a:br>
            <a:r>
              <a:rPr lang="ru-RU" sz="2400" dirty="0"/>
              <a:t>   b = a; // ошибка компиляции, т.к. </a:t>
            </a:r>
            <a:r>
              <a:rPr lang="ru-RU" sz="2400" dirty="0" err="1"/>
              <a:t>short</a:t>
            </a:r>
            <a:r>
              <a:rPr lang="ru-RU" sz="2400" dirty="0"/>
              <a:t> меньше </a:t>
            </a:r>
            <a:r>
              <a:rPr lang="ru-RU" sz="2400" dirty="0" err="1"/>
              <a:t>int</a:t>
            </a:r>
            <a:br>
              <a:rPr lang="ru-RU" sz="2400" dirty="0"/>
            </a:br>
            <a:r>
              <a:rPr lang="ru-RU" sz="2400" dirty="0"/>
              <a:t>}</a:t>
            </a:r>
          </a:p>
          <a:p>
            <a:endParaRPr lang="ru-RU" sz="2800" dirty="0"/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354360"/>
            <a:ext cx="7488832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400" dirty="0"/>
              <a:t>Пример явного приведения: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655365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800" dirty="0" err="1"/>
              <a:t>static</a:t>
            </a:r>
            <a:r>
              <a:rPr lang="ru-RU" sz="2800" dirty="0"/>
              <a:t> </a:t>
            </a:r>
            <a:r>
              <a:rPr lang="ru-RU" sz="2800" dirty="0" err="1"/>
              <a:t>void</a:t>
            </a:r>
            <a:r>
              <a:rPr lang="ru-RU" sz="2800" dirty="0"/>
              <a:t> </a:t>
            </a:r>
            <a:r>
              <a:rPr lang="ru-RU" sz="2800" dirty="0" err="1"/>
              <a:t>Main</a:t>
            </a:r>
            <a:r>
              <a:rPr lang="ru-RU" sz="2800" dirty="0"/>
              <a:t>(</a:t>
            </a:r>
            <a:r>
              <a:rPr lang="ru-RU" sz="2800" dirty="0" err="1"/>
              <a:t>string</a:t>
            </a:r>
            <a:r>
              <a:rPr lang="ru-RU" sz="2800" dirty="0"/>
              <a:t>[] </a:t>
            </a:r>
            <a:r>
              <a:rPr lang="ru-RU" sz="2800" dirty="0" err="1"/>
              <a:t>args</a:t>
            </a:r>
            <a:r>
              <a:rPr lang="ru-RU" sz="2800" dirty="0"/>
              <a:t>)</a:t>
            </a:r>
            <a:br>
              <a:rPr lang="ru-RU" sz="2800" dirty="0"/>
            </a:br>
            <a:r>
              <a:rPr lang="ru-RU" sz="2800" dirty="0"/>
              <a:t>{</a:t>
            </a:r>
            <a:br>
              <a:rPr lang="ru-RU" sz="2800" dirty="0"/>
            </a:br>
            <a:r>
              <a:rPr lang="ru-RU" sz="2800" dirty="0"/>
              <a:t>   </a:t>
            </a:r>
            <a:r>
              <a:rPr lang="ru-RU" sz="2800" dirty="0" err="1"/>
              <a:t>int</a:t>
            </a:r>
            <a:r>
              <a:rPr lang="ru-RU" sz="2800" dirty="0"/>
              <a:t> a = 35000;</a:t>
            </a:r>
            <a:br>
              <a:rPr lang="ru-RU" sz="2800" dirty="0"/>
            </a:br>
            <a:r>
              <a:rPr lang="ru-RU" sz="2800" dirty="0"/>
              <a:t>   </a:t>
            </a:r>
            <a:r>
              <a:rPr lang="ru-RU" sz="2800" dirty="0" err="1"/>
              <a:t>short</a:t>
            </a:r>
            <a:r>
              <a:rPr lang="ru-RU" sz="2800" dirty="0"/>
              <a:t> b = 10;</a:t>
            </a:r>
            <a:br>
              <a:rPr lang="ru-RU" sz="2800" dirty="0"/>
            </a:br>
            <a:r>
              <a:rPr lang="ru-RU" sz="2800" dirty="0"/>
              <a:t>   b = (</a:t>
            </a:r>
            <a:r>
              <a:rPr lang="ru-RU" sz="2800" dirty="0" err="1"/>
              <a:t>short</a:t>
            </a:r>
            <a:r>
              <a:rPr lang="ru-RU" sz="2800" dirty="0"/>
              <a:t>) a; // в этом случае ошибки нет, но будет утеря данных, т.к. максимальное значение типа </a:t>
            </a:r>
            <a:r>
              <a:rPr lang="ru-RU" sz="2800" dirty="0" err="1"/>
              <a:t>short</a:t>
            </a:r>
            <a:r>
              <a:rPr lang="ru-RU" sz="2800" dirty="0"/>
              <a:t>= 32767</a:t>
            </a:r>
            <a:br>
              <a:rPr lang="ru-RU" sz="2800" dirty="0"/>
            </a:br>
            <a:r>
              <a:rPr lang="ru-RU" sz="2800" dirty="0"/>
              <a:t>}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187624" y="76200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en-US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ru-RU" alt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способ: </a:t>
            </a:r>
            <a:r>
              <a:rPr lang="ru-RU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приведение с помощью команд </a:t>
            </a:r>
            <a:r>
              <a:rPr lang="en-US" altLang="ru-RU" sz="2800" dirty="0">
                <a:latin typeface="Arial" panose="020B0604020202020204" pitchFamily="34" charset="0"/>
                <a:cs typeface="Arial" panose="020B0604020202020204" pitchFamily="34" charset="0"/>
              </a:rPr>
              <a:t>Convert</a:t>
            </a:r>
            <a:endParaRPr lang="ru-RU" alt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07F135F-6BE3-47CC-9512-4A0340252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089420"/>
              </p:ext>
            </p:extLst>
          </p:nvPr>
        </p:nvGraphicFramePr>
        <p:xfrm>
          <a:off x="1187624" y="1203224"/>
          <a:ext cx="7777162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Команда</a:t>
                      </a: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itchFamily="34" charset="0"/>
                          <a:cs typeface="Arial" pitchFamily="34" charset="0"/>
                        </a:rPr>
                        <a:t>Результат</a:t>
                      </a: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Convert.ToBoolean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 err="1">
                          <a:latin typeface="Arial" pitchFamily="34" charset="0"/>
                          <a:cs typeface="Arial" pitchFamily="34" charset="0"/>
                        </a:rPr>
                        <a:t>bool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Convert.ToByte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byte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Convert.ToChar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char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Convert.ToDecimal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decimal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Convert.ToDouble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double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Convert.ToInt16(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short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Convert.ToInt32(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 err="1"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Convert.ToInt64(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long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Convert.ToSByte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 err="1">
                          <a:latin typeface="Arial" pitchFamily="34" charset="0"/>
                          <a:cs typeface="Arial" pitchFamily="34" charset="0"/>
                        </a:rPr>
                        <a:t>sbyte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Convert.ToSingle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float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Convert.ToStringval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string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Convert.ToUInt16(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 err="1">
                          <a:latin typeface="Arial" pitchFamily="34" charset="0"/>
                          <a:cs typeface="Arial" pitchFamily="34" charset="0"/>
                        </a:rPr>
                        <a:t>ushort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Convert.ToUInt32(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 err="1">
                          <a:latin typeface="Arial" pitchFamily="34" charset="0"/>
                          <a:cs typeface="Arial" pitchFamily="34" charset="0"/>
                        </a:rPr>
                        <a:t>uint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Convert.ToUInt64(</a:t>
                      </a:r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" pitchFamily="34" charset="0"/>
                          <a:cs typeface="Arial" pitchFamily="34" charset="0"/>
                        </a:rPr>
                        <a:t>val</a:t>
                      </a:r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,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ru-RU" baseline="0" dirty="0">
                          <a:latin typeface="Arial" pitchFamily="34" charset="0"/>
                          <a:cs typeface="Arial" pitchFamily="34" charset="0"/>
                        </a:rPr>
                        <a:t>преобразованное в </a:t>
                      </a:r>
                      <a:r>
                        <a:rPr lang="en-US" baseline="0" dirty="0" err="1">
                          <a:latin typeface="Arial" pitchFamily="34" charset="0"/>
                          <a:cs typeface="Arial" pitchFamily="34" charset="0"/>
                        </a:rPr>
                        <a:t>ulong</a:t>
                      </a:r>
                      <a:endParaRPr lang="ru-RU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1444" marR="91444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 Box 1"/>
          <p:cNvSpPr txBox="1">
            <a:spLocks noChangeArrowheads="1"/>
          </p:cNvSpPr>
          <p:nvPr/>
        </p:nvSpPr>
        <p:spPr bwMode="auto">
          <a:xfrm>
            <a:off x="1331640" y="228600"/>
            <a:ext cx="7488832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400" b="1" dirty="0">
                <a:solidFill>
                  <a:srgbClr val="0070C0"/>
                </a:solidFill>
              </a:rPr>
              <a:t>Ссылочные типы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340768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000" dirty="0"/>
              <a:t>Из базовых типов к ссылочным относятся </a:t>
            </a:r>
            <a:r>
              <a:rPr lang="ru-RU" sz="2000" dirty="0" err="1"/>
              <a:t>object</a:t>
            </a:r>
            <a:r>
              <a:rPr lang="ru-RU" sz="2000" dirty="0"/>
              <a:t> и </a:t>
            </a:r>
            <a:r>
              <a:rPr lang="ru-RU" sz="2000" dirty="0" err="1"/>
              <a:t>string</a:t>
            </a:r>
            <a:r>
              <a:rPr lang="ru-RU" sz="2000" dirty="0"/>
              <a:t>.</a:t>
            </a:r>
            <a:br>
              <a:rPr lang="ru-RU" sz="2000" dirty="0"/>
            </a:br>
            <a:r>
              <a:rPr lang="ru-RU" sz="2000" dirty="0"/>
              <a:t>Тип </a:t>
            </a:r>
            <a:r>
              <a:rPr lang="ru-RU" sz="2000" dirty="0" err="1"/>
              <a:t>object</a:t>
            </a:r>
            <a:r>
              <a:rPr lang="ru-RU" sz="2000" dirty="0"/>
              <a:t> является базовым для всех остальных типов данных. Типу </a:t>
            </a:r>
            <a:r>
              <a:rPr lang="ru-RU" sz="2000" dirty="0" err="1"/>
              <a:t>string</a:t>
            </a:r>
            <a:r>
              <a:rPr lang="ru-RU" sz="2000" dirty="0"/>
              <a:t> соответствует строка символов </a:t>
            </a:r>
            <a:r>
              <a:rPr lang="ru-RU" sz="2000" dirty="0" err="1"/>
              <a:t>Unicode</a:t>
            </a:r>
            <a:r>
              <a:rPr lang="ru-RU" sz="2000" dirty="0"/>
              <a:t>.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Пример использования типа </a:t>
            </a:r>
            <a:r>
              <a:rPr lang="ru-RU" dirty="0"/>
              <a:t> </a:t>
            </a:r>
            <a:r>
              <a:rPr lang="ru-RU" dirty="0" err="1"/>
              <a:t>string</a:t>
            </a:r>
            <a:r>
              <a:rPr lang="ru-RU" sz="2000" dirty="0"/>
              <a:t>.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 err="1"/>
              <a:t>static</a:t>
            </a:r>
            <a:r>
              <a:rPr lang="ru-RU" sz="2000" dirty="0"/>
              <a:t> </a:t>
            </a:r>
            <a:r>
              <a:rPr lang="ru-RU" sz="2000" dirty="0" err="1"/>
              <a:t>void</a:t>
            </a:r>
            <a:r>
              <a:rPr lang="ru-RU" sz="2000" dirty="0"/>
              <a:t> </a:t>
            </a:r>
            <a:r>
              <a:rPr lang="ru-RU" sz="2000" dirty="0" err="1"/>
              <a:t>Main</a:t>
            </a:r>
            <a:r>
              <a:rPr lang="ru-RU" sz="2000" dirty="0"/>
              <a:t>(</a:t>
            </a:r>
            <a:r>
              <a:rPr lang="ru-RU" sz="2000" dirty="0" err="1"/>
              <a:t>string</a:t>
            </a:r>
            <a:r>
              <a:rPr lang="ru-RU" sz="2000" dirty="0"/>
              <a:t>[] </a:t>
            </a:r>
            <a:r>
              <a:rPr lang="ru-RU" sz="2000" dirty="0" err="1"/>
              <a:t>args</a:t>
            </a:r>
            <a:r>
              <a:rPr lang="ru-RU" sz="2000" dirty="0"/>
              <a:t>)</a:t>
            </a:r>
            <a:br>
              <a:rPr lang="ru-RU" sz="2000" dirty="0"/>
            </a:br>
            <a:r>
              <a:rPr lang="ru-RU" sz="2000" dirty="0"/>
              <a:t>{</a:t>
            </a:r>
            <a:br>
              <a:rPr lang="ru-RU" sz="2000" dirty="0"/>
            </a:br>
            <a:r>
              <a:rPr lang="ru-RU" sz="2000" dirty="0"/>
              <a:t>   </a:t>
            </a:r>
            <a:r>
              <a:rPr lang="ru-RU" sz="2000" dirty="0" err="1"/>
              <a:t>string</a:t>
            </a:r>
            <a:r>
              <a:rPr lang="ru-RU" sz="2000" dirty="0"/>
              <a:t> </a:t>
            </a:r>
            <a:r>
              <a:rPr lang="ru-RU" sz="2000" dirty="0" err="1"/>
              <a:t>hello</a:t>
            </a:r>
            <a:r>
              <a:rPr lang="ru-RU" sz="2000" dirty="0"/>
              <a:t> = "</a:t>
            </a:r>
            <a:r>
              <a:rPr lang="ru-RU" sz="2000" dirty="0" err="1"/>
              <a:t>Hello</a:t>
            </a:r>
            <a:r>
              <a:rPr lang="ru-RU" sz="2000" dirty="0"/>
              <a:t>!";</a:t>
            </a:r>
            <a:br>
              <a:rPr lang="ru-RU" sz="2000" dirty="0"/>
            </a:br>
            <a:r>
              <a:rPr lang="ru-RU" sz="2000" dirty="0"/>
              <a:t>   </a:t>
            </a:r>
            <a:r>
              <a:rPr lang="ru-RU" sz="2000" dirty="0" err="1"/>
              <a:t>Console.WriteLine</a:t>
            </a:r>
            <a:r>
              <a:rPr lang="ru-RU" sz="2000" dirty="0"/>
              <a:t>(</a:t>
            </a:r>
            <a:r>
              <a:rPr lang="ru-RU" sz="2000" dirty="0" err="1"/>
              <a:t>hello</a:t>
            </a:r>
            <a:r>
              <a:rPr lang="ru-RU" sz="2000" dirty="0"/>
              <a:t>);</a:t>
            </a:r>
            <a:br>
              <a:rPr lang="ru-RU" sz="2000" dirty="0"/>
            </a:br>
            <a:r>
              <a:rPr lang="ru-RU" sz="2000" dirty="0"/>
              <a:t>}</a:t>
            </a:r>
          </a:p>
          <a:p>
            <a:br>
              <a:rPr lang="ru-RU" sz="2000" dirty="0"/>
            </a:br>
            <a:r>
              <a:rPr lang="ru-RU" sz="2000" dirty="0"/>
              <a:t>Типы значений в Си</a:t>
            </a:r>
            <a:r>
              <a:rPr lang="en-US" sz="2000" dirty="0"/>
              <a:t>#</a:t>
            </a:r>
            <a:r>
              <a:rPr lang="ru-RU" sz="2000" dirty="0"/>
              <a:t> хранятся в </a:t>
            </a:r>
            <a:r>
              <a:rPr lang="ru-RU" sz="2000" b="1" dirty="0"/>
              <a:t>стеке</a:t>
            </a:r>
            <a:r>
              <a:rPr lang="ru-RU" sz="2000" dirty="0"/>
              <a:t>. Ссылочные типы хранятся в </a:t>
            </a:r>
            <a:r>
              <a:rPr lang="ru-RU" sz="2000" b="1" dirty="0"/>
              <a:t>куче</a:t>
            </a:r>
            <a:r>
              <a:rPr lang="ru-RU" sz="2000" dirty="0"/>
              <a:t>, имея в стеке соответствующий указатель.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59632" y="1340768"/>
            <a:ext cx="7344618" cy="501399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800" b="1" dirty="0"/>
              <a:t>Стек</a:t>
            </a:r>
            <a:r>
              <a:rPr lang="ru-RU" sz="2800" dirty="0"/>
              <a:t> — это структура данных, которая сохраняет элементы по принципу «последним пришёл — первым вышел» . Примером из жизни служит стопка тарелок. Скорость работы со стеком выше, следовательно использование стека повышает скорость работы программы.</a:t>
            </a:r>
          </a:p>
          <a:p>
            <a:endParaRPr lang="ru-RU" sz="2600" dirty="0">
              <a:solidFill>
                <a:schemeClr val="accent1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259632" y="1295400"/>
            <a:ext cx="7704856" cy="47355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/>
          <a:lstStyle/>
          <a:p>
            <a:r>
              <a:rPr lang="ru-RU" sz="2800" b="1" dirty="0"/>
              <a:t>Куча</a:t>
            </a:r>
            <a:r>
              <a:rPr lang="ru-RU" sz="2800" dirty="0"/>
              <a:t> — это область динамической памяти, которая выделяется приложению для хранения данных (например объектов). Доступ к данным в куче осуществляется медленнее, чем к стеку. Переменные ссылочных типов хранят ссылки на данные.</a:t>
            </a:r>
            <a:br>
              <a:rPr lang="ru-RU" sz="2800" dirty="0"/>
            </a:br>
            <a:r>
              <a:rPr lang="ru-RU" sz="2800" dirty="0"/>
              <a:t>К ссылочным типам относятся классы, интерфейсы, делегаты и массивы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/>
          <p:cNvSpPr txBox="1">
            <a:spLocks noChangeArrowheads="1"/>
          </p:cNvSpPr>
          <p:nvPr/>
        </p:nvSpPr>
        <p:spPr bwMode="auto">
          <a:xfrm>
            <a:off x="1331640" y="-38100"/>
            <a:ext cx="7128148" cy="1374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4400" dirty="0">
                <a:solidFill>
                  <a:srgbClr val="0070C0"/>
                </a:solidFill>
              </a:rPr>
              <a:t>Задание</a:t>
            </a:r>
            <a:endParaRPr lang="ru-RU" sz="4200" b="1" dirty="0">
              <a:solidFill>
                <a:srgbClr val="0070C0"/>
              </a:solidFill>
              <a:latin typeface="Arial" pitchFamily="34" charset="0"/>
              <a:ea typeface="Lucida Sans Unicode" pitchFamily="32" charset="0"/>
              <a:cs typeface="Arial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7026DF-CF35-433D-A934-3A1B9FA27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541338">
              <a:buNone/>
            </a:pPr>
            <a:r>
              <a:rPr lang="ru-RU" dirty="0"/>
              <a:t>Прочитайте стр. 8 – 1</a:t>
            </a:r>
            <a:r>
              <a:rPr lang="en-US"/>
              <a:t>5</a:t>
            </a:r>
            <a:r>
              <a:rPr lang="ru-RU"/>
              <a:t> </a:t>
            </a:r>
            <a:r>
              <a:rPr lang="ru-RU" dirty="0"/>
              <a:t>пособия по </a:t>
            </a:r>
            <a:r>
              <a:rPr lang="ru-RU"/>
              <a:t>программированию.</a:t>
            </a:r>
            <a:endParaRPr lang="ru-RU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Другая 2">
      <a:dk1>
        <a:srgbClr val="2F5AD4"/>
      </a:dk1>
      <a:lt1>
        <a:sysClr val="window" lastClr="FFFFFF"/>
      </a:lt1>
      <a:dk2>
        <a:srgbClr val="005390"/>
      </a:dk2>
      <a:lt2>
        <a:srgbClr val="7793E3"/>
      </a:lt2>
      <a:accent1>
        <a:srgbClr val="ADBEEE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FFFFFF"/>
      </a:hlink>
      <a:folHlink>
        <a:srgbClr val="FFFFFF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1526</TotalTime>
  <Words>1550</Words>
  <Application>Microsoft Office PowerPoint</Application>
  <PresentationFormat>Экран (4:3)</PresentationFormat>
  <Paragraphs>295</Paragraphs>
  <Slides>28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8" baseType="lpstr">
      <vt:lpstr>Arial</vt:lpstr>
      <vt:lpstr>Arial Unicode MS</vt:lpstr>
      <vt:lpstr>Calibri</vt:lpstr>
      <vt:lpstr>Corbel</vt:lpstr>
      <vt:lpstr>Gill Sans MT</vt:lpstr>
      <vt:lpstr>Lucida Sans Unicode</vt:lpstr>
      <vt:lpstr>Times New Roman</vt:lpstr>
      <vt:lpstr>Verdana</vt:lpstr>
      <vt:lpstr>Wingdings 2</vt:lpstr>
      <vt:lpstr>Солнцестояние</vt:lpstr>
      <vt:lpstr> Введение в C#. Константы и переменные. Ключевые слова. Идентификаторы. Типы данных. Преобразование типов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Преобразование типов</vt:lpstr>
      <vt:lpstr>Неявные преобразования</vt:lpstr>
      <vt:lpstr>Явные преобразования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Понятие алгоритма. Формы представления алгоритмов</dc:title>
  <dc:creator>Максим</dc:creator>
  <cp:lastModifiedBy>Teacher</cp:lastModifiedBy>
  <cp:revision>124</cp:revision>
  <cp:lastPrinted>2021-10-07T08:16:23Z</cp:lastPrinted>
  <dcterms:created xsi:type="dcterms:W3CDTF">2018-06-13T16:44:19Z</dcterms:created>
  <dcterms:modified xsi:type="dcterms:W3CDTF">2022-09-30T05:41:46Z</dcterms:modified>
</cp:coreProperties>
</file>