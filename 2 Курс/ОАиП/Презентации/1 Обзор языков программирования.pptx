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6" r:id="rId1"/>
  </p:sldMasterIdLst>
  <p:notesMasterIdLst>
    <p:notesMasterId r:id="rId30"/>
  </p:notesMasterIdLst>
  <p:sldIdLst>
    <p:sldId id="256" r:id="rId2"/>
    <p:sldId id="258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9" r:id="rId18"/>
    <p:sldId id="259" r:id="rId19"/>
    <p:sldId id="303" r:id="rId20"/>
    <p:sldId id="304" r:id="rId21"/>
    <p:sldId id="305" r:id="rId22"/>
    <p:sldId id="306" r:id="rId23"/>
    <p:sldId id="307" r:id="rId24"/>
    <p:sldId id="300" r:id="rId25"/>
    <p:sldId id="301" r:id="rId26"/>
    <p:sldId id="302" r:id="rId27"/>
    <p:sldId id="308" r:id="rId28"/>
    <p:sldId id="309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281D81-D3EC-4987-8CB2-620C81EA58A7}" type="doc">
      <dgm:prSet loTypeId="urn:microsoft.com/office/officeart/2005/8/layout/orgChart1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F957A82D-BAE9-4902-832D-5F58FE81E1B3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3500" dirty="0"/>
            <a:t>Транслятор</a:t>
          </a:r>
        </a:p>
      </dgm:t>
    </dgm:pt>
    <dgm:pt modelId="{2FC8285C-D6F9-487F-87F7-01C11686254B}" type="parTrans" cxnId="{2C149EFD-BFF7-4DA3-BCC1-12486622DEAD}">
      <dgm:prSet/>
      <dgm:spPr/>
      <dgm:t>
        <a:bodyPr/>
        <a:lstStyle/>
        <a:p>
          <a:endParaRPr lang="ru-RU"/>
        </a:p>
      </dgm:t>
    </dgm:pt>
    <dgm:pt modelId="{C2D7DB4F-274E-4D53-804E-3C1D8A8F6708}" type="sibTrans" cxnId="{2C149EFD-BFF7-4DA3-BCC1-12486622DEAD}">
      <dgm:prSet/>
      <dgm:spPr/>
      <dgm:t>
        <a:bodyPr/>
        <a:lstStyle/>
        <a:p>
          <a:endParaRPr lang="ru-RU"/>
        </a:p>
      </dgm:t>
    </dgm:pt>
    <dgm:pt modelId="{0DCE4D16-DC33-4056-B3A9-40CF1C9179FB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3000" dirty="0"/>
            <a:t>Компилятор</a:t>
          </a:r>
        </a:p>
      </dgm:t>
    </dgm:pt>
    <dgm:pt modelId="{D6686C32-2F30-4DE7-B518-FCD38B301856}" type="parTrans" cxnId="{8B64C5A5-FAD6-40F6-9F97-CD734B26D3E7}">
      <dgm:prSet/>
      <dgm:spPr/>
      <dgm:t>
        <a:bodyPr/>
        <a:lstStyle/>
        <a:p>
          <a:endParaRPr lang="ru-RU"/>
        </a:p>
      </dgm:t>
    </dgm:pt>
    <dgm:pt modelId="{D00A0001-8C37-4CB1-8B99-22FAA899E81C}" type="sibTrans" cxnId="{8B64C5A5-FAD6-40F6-9F97-CD734B26D3E7}">
      <dgm:prSet/>
      <dgm:spPr/>
      <dgm:t>
        <a:bodyPr/>
        <a:lstStyle/>
        <a:p>
          <a:endParaRPr lang="ru-RU"/>
        </a:p>
      </dgm:t>
    </dgm:pt>
    <dgm:pt modelId="{C7FD9EF9-EF5B-4CF1-82E6-7C4BDB855F7B}">
      <dgm:prSet phldrT="[Текст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ru-RU" sz="3000" dirty="0"/>
            <a:t>Интерпретатор</a:t>
          </a:r>
        </a:p>
      </dgm:t>
    </dgm:pt>
    <dgm:pt modelId="{E2394BB2-7796-405F-902D-F0845EFCC6CA}" type="parTrans" cxnId="{6B2EC7A7-0DCF-4CCD-BF5F-6892F64319EF}">
      <dgm:prSet/>
      <dgm:spPr/>
      <dgm:t>
        <a:bodyPr/>
        <a:lstStyle/>
        <a:p>
          <a:endParaRPr lang="ru-RU"/>
        </a:p>
      </dgm:t>
    </dgm:pt>
    <dgm:pt modelId="{CB31B8B6-047A-4739-83AF-2F9B7E10F678}" type="sibTrans" cxnId="{6B2EC7A7-0DCF-4CCD-BF5F-6892F64319EF}">
      <dgm:prSet/>
      <dgm:spPr/>
      <dgm:t>
        <a:bodyPr/>
        <a:lstStyle/>
        <a:p>
          <a:endParaRPr lang="ru-RU"/>
        </a:p>
      </dgm:t>
    </dgm:pt>
    <dgm:pt modelId="{83C330F8-C93C-4BC8-81B0-A2C84AF7D601}" type="pres">
      <dgm:prSet presAssocID="{F0281D81-D3EC-4987-8CB2-620C81EA58A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86E1401-C861-4E19-A80C-CAB1AEBAB3C0}" type="pres">
      <dgm:prSet presAssocID="{F957A82D-BAE9-4902-832D-5F58FE81E1B3}" presName="hierRoot1" presStyleCnt="0">
        <dgm:presLayoutVars>
          <dgm:hierBranch val="init"/>
        </dgm:presLayoutVars>
      </dgm:prSet>
      <dgm:spPr/>
    </dgm:pt>
    <dgm:pt modelId="{7EC7372F-7884-45D3-BE78-EA3D9AAE982F}" type="pres">
      <dgm:prSet presAssocID="{F957A82D-BAE9-4902-832D-5F58FE81E1B3}" presName="rootComposite1" presStyleCnt="0"/>
      <dgm:spPr/>
    </dgm:pt>
    <dgm:pt modelId="{A731CA56-95C1-43F7-9F84-526E79C3DF69}" type="pres">
      <dgm:prSet presAssocID="{F957A82D-BAE9-4902-832D-5F58FE81E1B3}" presName="rootText1" presStyleLbl="node0" presStyleIdx="0" presStyleCnt="1" custLinFactNeighborX="376" custLinFactNeighborY="-3221">
        <dgm:presLayoutVars>
          <dgm:chPref val="3"/>
        </dgm:presLayoutVars>
      </dgm:prSet>
      <dgm:spPr/>
    </dgm:pt>
    <dgm:pt modelId="{545F27C7-60FE-4271-B87F-001FE3DA51A7}" type="pres">
      <dgm:prSet presAssocID="{F957A82D-BAE9-4902-832D-5F58FE81E1B3}" presName="rootConnector1" presStyleLbl="node1" presStyleIdx="0" presStyleCnt="0"/>
      <dgm:spPr/>
    </dgm:pt>
    <dgm:pt modelId="{82692ACE-408D-4CA0-8AB2-A05CB98B3F0F}" type="pres">
      <dgm:prSet presAssocID="{F957A82D-BAE9-4902-832D-5F58FE81E1B3}" presName="hierChild2" presStyleCnt="0"/>
      <dgm:spPr/>
    </dgm:pt>
    <dgm:pt modelId="{2DCA7B1D-0A1C-4EA8-9E38-B9221C93DA5C}" type="pres">
      <dgm:prSet presAssocID="{D6686C32-2F30-4DE7-B518-FCD38B301856}" presName="Name37" presStyleLbl="parChTrans1D2" presStyleIdx="0" presStyleCnt="2"/>
      <dgm:spPr/>
    </dgm:pt>
    <dgm:pt modelId="{002156DF-FE38-4202-9A05-3CAC2000C267}" type="pres">
      <dgm:prSet presAssocID="{0DCE4D16-DC33-4056-B3A9-40CF1C9179FB}" presName="hierRoot2" presStyleCnt="0">
        <dgm:presLayoutVars>
          <dgm:hierBranch val="init"/>
        </dgm:presLayoutVars>
      </dgm:prSet>
      <dgm:spPr/>
    </dgm:pt>
    <dgm:pt modelId="{27BDF926-FEAD-4025-8F19-6312B247646D}" type="pres">
      <dgm:prSet presAssocID="{0DCE4D16-DC33-4056-B3A9-40CF1C9179FB}" presName="rootComposite" presStyleCnt="0"/>
      <dgm:spPr/>
    </dgm:pt>
    <dgm:pt modelId="{9F3DC26F-6185-406D-BB0A-43BA962522BC}" type="pres">
      <dgm:prSet presAssocID="{0DCE4D16-DC33-4056-B3A9-40CF1C9179FB}" presName="rootText" presStyleLbl="node2" presStyleIdx="0" presStyleCnt="2" custScaleX="110553">
        <dgm:presLayoutVars>
          <dgm:chPref val="3"/>
        </dgm:presLayoutVars>
      </dgm:prSet>
      <dgm:spPr/>
    </dgm:pt>
    <dgm:pt modelId="{94697790-8595-42F4-AAB2-CCFFB0722641}" type="pres">
      <dgm:prSet presAssocID="{0DCE4D16-DC33-4056-B3A9-40CF1C9179FB}" presName="rootConnector" presStyleLbl="node2" presStyleIdx="0" presStyleCnt="2"/>
      <dgm:spPr/>
    </dgm:pt>
    <dgm:pt modelId="{E31CF52B-87D3-4D4D-BC3E-B22BA2247DD8}" type="pres">
      <dgm:prSet presAssocID="{0DCE4D16-DC33-4056-B3A9-40CF1C9179FB}" presName="hierChild4" presStyleCnt="0"/>
      <dgm:spPr/>
    </dgm:pt>
    <dgm:pt modelId="{762F7186-6677-4736-B0C1-69D30781986B}" type="pres">
      <dgm:prSet presAssocID="{0DCE4D16-DC33-4056-B3A9-40CF1C9179FB}" presName="hierChild5" presStyleCnt="0"/>
      <dgm:spPr/>
    </dgm:pt>
    <dgm:pt modelId="{55586911-0CA9-410B-BB5D-03FACAB2D1CD}" type="pres">
      <dgm:prSet presAssocID="{E2394BB2-7796-405F-902D-F0845EFCC6CA}" presName="Name37" presStyleLbl="parChTrans1D2" presStyleIdx="1" presStyleCnt="2"/>
      <dgm:spPr/>
    </dgm:pt>
    <dgm:pt modelId="{CF8AEFAE-E72C-4547-9488-A7F2EBDB9F51}" type="pres">
      <dgm:prSet presAssocID="{C7FD9EF9-EF5B-4CF1-82E6-7C4BDB855F7B}" presName="hierRoot2" presStyleCnt="0">
        <dgm:presLayoutVars>
          <dgm:hierBranch val="init"/>
        </dgm:presLayoutVars>
      </dgm:prSet>
      <dgm:spPr/>
    </dgm:pt>
    <dgm:pt modelId="{A0A54BAE-F57F-40E6-BC4A-C9946C4169FC}" type="pres">
      <dgm:prSet presAssocID="{C7FD9EF9-EF5B-4CF1-82E6-7C4BDB855F7B}" presName="rootComposite" presStyleCnt="0"/>
      <dgm:spPr/>
    </dgm:pt>
    <dgm:pt modelId="{855AD3AD-B8B2-439F-9C41-1AC20194CDB9}" type="pres">
      <dgm:prSet presAssocID="{C7FD9EF9-EF5B-4CF1-82E6-7C4BDB855F7B}" presName="rootText" presStyleLbl="node2" presStyleIdx="1" presStyleCnt="2" custScaleX="114812">
        <dgm:presLayoutVars>
          <dgm:chPref val="3"/>
        </dgm:presLayoutVars>
      </dgm:prSet>
      <dgm:spPr/>
    </dgm:pt>
    <dgm:pt modelId="{7A64ACDB-5192-4F15-A85D-6CC222265171}" type="pres">
      <dgm:prSet presAssocID="{C7FD9EF9-EF5B-4CF1-82E6-7C4BDB855F7B}" presName="rootConnector" presStyleLbl="node2" presStyleIdx="1" presStyleCnt="2"/>
      <dgm:spPr/>
    </dgm:pt>
    <dgm:pt modelId="{DB4F5E28-FE4C-45D3-934D-D61C54A988FD}" type="pres">
      <dgm:prSet presAssocID="{C7FD9EF9-EF5B-4CF1-82E6-7C4BDB855F7B}" presName="hierChild4" presStyleCnt="0"/>
      <dgm:spPr/>
    </dgm:pt>
    <dgm:pt modelId="{83F37599-838D-4857-847D-F0B66271D29E}" type="pres">
      <dgm:prSet presAssocID="{C7FD9EF9-EF5B-4CF1-82E6-7C4BDB855F7B}" presName="hierChild5" presStyleCnt="0"/>
      <dgm:spPr/>
    </dgm:pt>
    <dgm:pt modelId="{B43A34A3-8348-4158-B76F-E2A64A61EA93}" type="pres">
      <dgm:prSet presAssocID="{F957A82D-BAE9-4902-832D-5F58FE81E1B3}" presName="hierChild3" presStyleCnt="0"/>
      <dgm:spPr/>
    </dgm:pt>
  </dgm:ptLst>
  <dgm:cxnLst>
    <dgm:cxn modelId="{FAD84107-E058-4377-8288-18820BC86736}" type="presOf" srcId="{D6686C32-2F30-4DE7-B518-FCD38B301856}" destId="{2DCA7B1D-0A1C-4EA8-9E38-B9221C93DA5C}" srcOrd="0" destOrd="0" presId="urn:microsoft.com/office/officeart/2005/8/layout/orgChart1"/>
    <dgm:cxn modelId="{112E6407-720C-43AD-BE68-D8E0024605DE}" type="presOf" srcId="{C7FD9EF9-EF5B-4CF1-82E6-7C4BDB855F7B}" destId="{7A64ACDB-5192-4F15-A85D-6CC222265171}" srcOrd="1" destOrd="0" presId="urn:microsoft.com/office/officeart/2005/8/layout/orgChart1"/>
    <dgm:cxn modelId="{D1DDF464-7F04-4C4C-B0EE-726DCDC73C5B}" type="presOf" srcId="{C7FD9EF9-EF5B-4CF1-82E6-7C4BDB855F7B}" destId="{855AD3AD-B8B2-439F-9C41-1AC20194CDB9}" srcOrd="0" destOrd="0" presId="urn:microsoft.com/office/officeart/2005/8/layout/orgChart1"/>
    <dgm:cxn modelId="{5461D97C-C2D6-4CB1-9A72-C6130B387CCD}" type="presOf" srcId="{0DCE4D16-DC33-4056-B3A9-40CF1C9179FB}" destId="{94697790-8595-42F4-AAB2-CCFFB0722641}" srcOrd="1" destOrd="0" presId="urn:microsoft.com/office/officeart/2005/8/layout/orgChart1"/>
    <dgm:cxn modelId="{4B8EE597-4566-455E-AF1B-B9A2946C1A24}" type="presOf" srcId="{0DCE4D16-DC33-4056-B3A9-40CF1C9179FB}" destId="{9F3DC26F-6185-406D-BB0A-43BA962522BC}" srcOrd="0" destOrd="0" presId="urn:microsoft.com/office/officeart/2005/8/layout/orgChart1"/>
    <dgm:cxn modelId="{4B31E29F-AC5A-43FB-A81B-073F14A97863}" type="presOf" srcId="{E2394BB2-7796-405F-902D-F0845EFCC6CA}" destId="{55586911-0CA9-410B-BB5D-03FACAB2D1CD}" srcOrd="0" destOrd="0" presId="urn:microsoft.com/office/officeart/2005/8/layout/orgChart1"/>
    <dgm:cxn modelId="{8B64C5A5-FAD6-40F6-9F97-CD734B26D3E7}" srcId="{F957A82D-BAE9-4902-832D-5F58FE81E1B3}" destId="{0DCE4D16-DC33-4056-B3A9-40CF1C9179FB}" srcOrd="0" destOrd="0" parTransId="{D6686C32-2F30-4DE7-B518-FCD38B301856}" sibTransId="{D00A0001-8C37-4CB1-8B99-22FAA899E81C}"/>
    <dgm:cxn modelId="{6B2EC7A7-0DCF-4CCD-BF5F-6892F64319EF}" srcId="{F957A82D-BAE9-4902-832D-5F58FE81E1B3}" destId="{C7FD9EF9-EF5B-4CF1-82E6-7C4BDB855F7B}" srcOrd="1" destOrd="0" parTransId="{E2394BB2-7796-405F-902D-F0845EFCC6CA}" sibTransId="{CB31B8B6-047A-4739-83AF-2F9B7E10F678}"/>
    <dgm:cxn modelId="{289114B0-B515-4EC7-BED9-2BD5E3A9C2F6}" type="presOf" srcId="{F957A82D-BAE9-4902-832D-5F58FE81E1B3}" destId="{545F27C7-60FE-4271-B87F-001FE3DA51A7}" srcOrd="1" destOrd="0" presId="urn:microsoft.com/office/officeart/2005/8/layout/orgChart1"/>
    <dgm:cxn modelId="{1FC389E3-0543-4B35-B002-4E98B4C22BB2}" type="presOf" srcId="{F957A82D-BAE9-4902-832D-5F58FE81E1B3}" destId="{A731CA56-95C1-43F7-9F84-526E79C3DF69}" srcOrd="0" destOrd="0" presId="urn:microsoft.com/office/officeart/2005/8/layout/orgChart1"/>
    <dgm:cxn modelId="{BD55F9F0-F915-4002-BC8A-F72D194D0C83}" type="presOf" srcId="{F0281D81-D3EC-4987-8CB2-620C81EA58A7}" destId="{83C330F8-C93C-4BC8-81B0-A2C84AF7D601}" srcOrd="0" destOrd="0" presId="urn:microsoft.com/office/officeart/2005/8/layout/orgChart1"/>
    <dgm:cxn modelId="{2C149EFD-BFF7-4DA3-BCC1-12486622DEAD}" srcId="{F0281D81-D3EC-4987-8CB2-620C81EA58A7}" destId="{F957A82D-BAE9-4902-832D-5F58FE81E1B3}" srcOrd="0" destOrd="0" parTransId="{2FC8285C-D6F9-487F-87F7-01C11686254B}" sibTransId="{C2D7DB4F-274E-4D53-804E-3C1D8A8F6708}"/>
    <dgm:cxn modelId="{9B70BEFA-E84F-4026-B676-529ADB07206F}" type="presParOf" srcId="{83C330F8-C93C-4BC8-81B0-A2C84AF7D601}" destId="{186E1401-C861-4E19-A80C-CAB1AEBAB3C0}" srcOrd="0" destOrd="0" presId="urn:microsoft.com/office/officeart/2005/8/layout/orgChart1"/>
    <dgm:cxn modelId="{88DC3EA1-C618-4E11-B5F6-0854DDF85EF5}" type="presParOf" srcId="{186E1401-C861-4E19-A80C-CAB1AEBAB3C0}" destId="{7EC7372F-7884-45D3-BE78-EA3D9AAE982F}" srcOrd="0" destOrd="0" presId="urn:microsoft.com/office/officeart/2005/8/layout/orgChart1"/>
    <dgm:cxn modelId="{5A6152B2-6395-4237-A2E0-8835CDC56382}" type="presParOf" srcId="{7EC7372F-7884-45D3-BE78-EA3D9AAE982F}" destId="{A731CA56-95C1-43F7-9F84-526E79C3DF69}" srcOrd="0" destOrd="0" presId="urn:microsoft.com/office/officeart/2005/8/layout/orgChart1"/>
    <dgm:cxn modelId="{BD4CB698-0163-465C-9FB5-F9F0EF2938AA}" type="presParOf" srcId="{7EC7372F-7884-45D3-BE78-EA3D9AAE982F}" destId="{545F27C7-60FE-4271-B87F-001FE3DA51A7}" srcOrd="1" destOrd="0" presId="urn:microsoft.com/office/officeart/2005/8/layout/orgChart1"/>
    <dgm:cxn modelId="{91C1F3ED-CE64-4234-B0F6-D4754E352B7B}" type="presParOf" srcId="{186E1401-C861-4E19-A80C-CAB1AEBAB3C0}" destId="{82692ACE-408D-4CA0-8AB2-A05CB98B3F0F}" srcOrd="1" destOrd="0" presId="urn:microsoft.com/office/officeart/2005/8/layout/orgChart1"/>
    <dgm:cxn modelId="{395338B1-CFA7-4EC0-88B7-C37C581DF512}" type="presParOf" srcId="{82692ACE-408D-4CA0-8AB2-A05CB98B3F0F}" destId="{2DCA7B1D-0A1C-4EA8-9E38-B9221C93DA5C}" srcOrd="0" destOrd="0" presId="urn:microsoft.com/office/officeart/2005/8/layout/orgChart1"/>
    <dgm:cxn modelId="{30BC14EC-E906-4B3B-8AA0-78A483C5700D}" type="presParOf" srcId="{82692ACE-408D-4CA0-8AB2-A05CB98B3F0F}" destId="{002156DF-FE38-4202-9A05-3CAC2000C267}" srcOrd="1" destOrd="0" presId="urn:microsoft.com/office/officeart/2005/8/layout/orgChart1"/>
    <dgm:cxn modelId="{2E100013-2F7E-4FAA-80F9-BB651769936D}" type="presParOf" srcId="{002156DF-FE38-4202-9A05-3CAC2000C267}" destId="{27BDF926-FEAD-4025-8F19-6312B247646D}" srcOrd="0" destOrd="0" presId="urn:microsoft.com/office/officeart/2005/8/layout/orgChart1"/>
    <dgm:cxn modelId="{89AD11A9-5FE4-429B-A3D2-BEA0495BE400}" type="presParOf" srcId="{27BDF926-FEAD-4025-8F19-6312B247646D}" destId="{9F3DC26F-6185-406D-BB0A-43BA962522BC}" srcOrd="0" destOrd="0" presId="urn:microsoft.com/office/officeart/2005/8/layout/orgChart1"/>
    <dgm:cxn modelId="{9D12343D-BAF8-41BA-8836-60222292011F}" type="presParOf" srcId="{27BDF926-FEAD-4025-8F19-6312B247646D}" destId="{94697790-8595-42F4-AAB2-CCFFB0722641}" srcOrd="1" destOrd="0" presId="urn:microsoft.com/office/officeart/2005/8/layout/orgChart1"/>
    <dgm:cxn modelId="{7864859C-F3A4-4C41-B659-BDB8D62B149B}" type="presParOf" srcId="{002156DF-FE38-4202-9A05-3CAC2000C267}" destId="{E31CF52B-87D3-4D4D-BC3E-B22BA2247DD8}" srcOrd="1" destOrd="0" presId="urn:microsoft.com/office/officeart/2005/8/layout/orgChart1"/>
    <dgm:cxn modelId="{BDA20F29-205C-40A9-9364-3AD9773D5906}" type="presParOf" srcId="{002156DF-FE38-4202-9A05-3CAC2000C267}" destId="{762F7186-6677-4736-B0C1-69D30781986B}" srcOrd="2" destOrd="0" presId="urn:microsoft.com/office/officeart/2005/8/layout/orgChart1"/>
    <dgm:cxn modelId="{DE2D18A0-8B60-4F7E-A811-D8CD7D2BFAF7}" type="presParOf" srcId="{82692ACE-408D-4CA0-8AB2-A05CB98B3F0F}" destId="{55586911-0CA9-410B-BB5D-03FACAB2D1CD}" srcOrd="2" destOrd="0" presId="urn:microsoft.com/office/officeart/2005/8/layout/orgChart1"/>
    <dgm:cxn modelId="{D94E514D-91B1-47D1-B5AA-44DDFB3CE192}" type="presParOf" srcId="{82692ACE-408D-4CA0-8AB2-A05CB98B3F0F}" destId="{CF8AEFAE-E72C-4547-9488-A7F2EBDB9F51}" srcOrd="3" destOrd="0" presId="urn:microsoft.com/office/officeart/2005/8/layout/orgChart1"/>
    <dgm:cxn modelId="{F9F629AE-1519-495A-A6F5-3E7F731A9F42}" type="presParOf" srcId="{CF8AEFAE-E72C-4547-9488-A7F2EBDB9F51}" destId="{A0A54BAE-F57F-40E6-BC4A-C9946C4169FC}" srcOrd="0" destOrd="0" presId="urn:microsoft.com/office/officeart/2005/8/layout/orgChart1"/>
    <dgm:cxn modelId="{2FA89995-6908-49EA-AF47-8DCC5F57FF64}" type="presParOf" srcId="{A0A54BAE-F57F-40E6-BC4A-C9946C4169FC}" destId="{855AD3AD-B8B2-439F-9C41-1AC20194CDB9}" srcOrd="0" destOrd="0" presId="urn:microsoft.com/office/officeart/2005/8/layout/orgChart1"/>
    <dgm:cxn modelId="{29E801F1-E703-4A85-9DDB-52275DB70BA9}" type="presParOf" srcId="{A0A54BAE-F57F-40E6-BC4A-C9946C4169FC}" destId="{7A64ACDB-5192-4F15-A85D-6CC222265171}" srcOrd="1" destOrd="0" presId="urn:microsoft.com/office/officeart/2005/8/layout/orgChart1"/>
    <dgm:cxn modelId="{F694863C-4147-42A3-8989-C5531B5D119C}" type="presParOf" srcId="{CF8AEFAE-E72C-4547-9488-A7F2EBDB9F51}" destId="{DB4F5E28-FE4C-45D3-934D-D61C54A988FD}" srcOrd="1" destOrd="0" presId="urn:microsoft.com/office/officeart/2005/8/layout/orgChart1"/>
    <dgm:cxn modelId="{FAA0C5F4-F4EE-4D06-A71D-32FFAAD7F0D0}" type="presParOf" srcId="{CF8AEFAE-E72C-4547-9488-A7F2EBDB9F51}" destId="{83F37599-838D-4857-847D-F0B66271D29E}" srcOrd="2" destOrd="0" presId="urn:microsoft.com/office/officeart/2005/8/layout/orgChart1"/>
    <dgm:cxn modelId="{AA878AE5-2597-41A5-A75A-0B0219192C8E}" type="presParOf" srcId="{186E1401-C861-4E19-A80C-CAB1AEBAB3C0}" destId="{B43A34A3-8348-4158-B76F-E2A64A61EA9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86911-0CA9-410B-BB5D-03FACAB2D1CD}">
      <dsp:nvSpPr>
        <dsp:cNvPr id="0" name=""/>
        <dsp:cNvSpPr/>
      </dsp:nvSpPr>
      <dsp:spPr>
        <a:xfrm>
          <a:off x="3057303" y="1732353"/>
          <a:ext cx="1618183" cy="5594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646"/>
              </a:lnTo>
              <a:lnTo>
                <a:pt x="1618183" y="299646"/>
              </a:lnTo>
              <a:lnTo>
                <a:pt x="1618183" y="5594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CA7B1D-0A1C-4EA8-9E38-B9221C93DA5C}">
      <dsp:nvSpPr>
        <dsp:cNvPr id="0" name=""/>
        <dsp:cNvSpPr/>
      </dsp:nvSpPr>
      <dsp:spPr>
        <a:xfrm>
          <a:off x="1367823" y="1732353"/>
          <a:ext cx="1689479" cy="559444"/>
        </a:xfrm>
        <a:custGeom>
          <a:avLst/>
          <a:gdLst/>
          <a:ahLst/>
          <a:cxnLst/>
          <a:rect l="0" t="0" r="0" b="0"/>
          <a:pathLst>
            <a:path>
              <a:moveTo>
                <a:pt x="1689479" y="0"/>
              </a:moveTo>
              <a:lnTo>
                <a:pt x="1689479" y="299646"/>
              </a:lnTo>
              <a:lnTo>
                <a:pt x="0" y="299646"/>
              </a:lnTo>
              <a:lnTo>
                <a:pt x="0" y="55944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1CA56-95C1-43F7-9F84-526E79C3DF69}">
      <dsp:nvSpPr>
        <dsp:cNvPr id="0" name=""/>
        <dsp:cNvSpPr/>
      </dsp:nvSpPr>
      <dsp:spPr>
        <a:xfrm>
          <a:off x="1820169" y="495220"/>
          <a:ext cx="2474267" cy="1237133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5400000"/>
          </a:lightRig>
        </a:scene3d>
        <a:sp3d contourW="12700">
          <a:bevelT w="25400" h="50800" prst="angle"/>
          <a:contourClr>
            <a:schemeClr val="accen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Транслятор</a:t>
          </a:r>
        </a:p>
      </dsp:txBody>
      <dsp:txXfrm>
        <a:off x="1820169" y="495220"/>
        <a:ext cx="2474267" cy="1237133"/>
      </dsp:txXfrm>
    </dsp:sp>
    <dsp:sp modelId="{9F3DC26F-6185-406D-BB0A-43BA962522BC}">
      <dsp:nvSpPr>
        <dsp:cNvPr id="0" name=""/>
        <dsp:cNvSpPr/>
      </dsp:nvSpPr>
      <dsp:spPr>
        <a:xfrm>
          <a:off x="135" y="2291798"/>
          <a:ext cx="2735377" cy="1237133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5400000"/>
          </a:lightRig>
        </a:scene3d>
        <a:sp3d contourW="12700">
          <a:bevelT w="25400" h="50800" prst="angle"/>
          <a:contourClr>
            <a:schemeClr val="accent3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Компилятор</a:t>
          </a:r>
        </a:p>
      </dsp:txBody>
      <dsp:txXfrm>
        <a:off x="135" y="2291798"/>
        <a:ext cx="2735377" cy="1237133"/>
      </dsp:txXfrm>
    </dsp:sp>
    <dsp:sp modelId="{855AD3AD-B8B2-439F-9C41-1AC20194CDB9}">
      <dsp:nvSpPr>
        <dsp:cNvPr id="0" name=""/>
        <dsp:cNvSpPr/>
      </dsp:nvSpPr>
      <dsp:spPr>
        <a:xfrm>
          <a:off x="3255108" y="2291798"/>
          <a:ext cx="2840756" cy="1237133"/>
        </a:xfrm>
        <a:prstGeom prst="rect">
          <a:avLst/>
        </a:prstGeom>
        <a:solidFill>
          <a:schemeClr val="accent1">
            <a:lumMod val="75000"/>
          </a:schemeClr>
        </a:solidFill>
        <a:ln>
          <a:noFill/>
        </a:ln>
        <a:effectLst>
          <a:outerShdw blurRad="63500" dist="254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brightRoom" dir="tl">
            <a:rot lat="0" lon="0" rev="5400000"/>
          </a:lightRig>
        </a:scene3d>
        <a:sp3d contourW="12700">
          <a:bevelT w="25400" h="50800" prst="angle"/>
          <a:contourClr>
            <a:schemeClr val="accent3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Интерпретатор</a:t>
          </a:r>
        </a:p>
      </dsp:txBody>
      <dsp:txXfrm>
        <a:off x="3255108" y="2291798"/>
        <a:ext cx="2840756" cy="1237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51DB1-092B-4B95-8455-D31573DBABC6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C3E04-6D3F-42BC-962E-6271C4FAE8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48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2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3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4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5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6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7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8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9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10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11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12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13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14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15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16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17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18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19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20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21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22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23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24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25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26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27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28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47987" cy="433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49575" cy="434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54337" cy="4397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99A2A0F-C411-4DD9-B000-50541070904F}" type="datetimeFigureOut">
              <a:rPr lang="ru-RU" smtClean="0"/>
              <a:pPr/>
              <a:t>04.09.2023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1308744"/>
            <a:ext cx="7406640" cy="1472184"/>
          </a:xfrm>
        </p:spPr>
        <p:txBody>
          <a:bodyPr>
            <a:normAutofit fontScale="90000"/>
          </a:bodyPr>
          <a:lstStyle/>
          <a:p>
            <a:pPr lvl="0" algn="r"/>
            <a:r>
              <a:rPr lang="ru-RU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  <a:t>Развитие языков программирования.</a:t>
            </a:r>
            <a:br>
              <a:rPr lang="ru-RU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ru-RU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  <a:t>Обзор языков программирования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2900536"/>
            <a:ext cx="7406640" cy="1752600"/>
          </a:xfrm>
        </p:spPr>
        <p:txBody>
          <a:bodyPr/>
          <a:lstStyle/>
          <a:p>
            <a:pPr algn="r"/>
            <a:r>
              <a:rPr lang="ru-RU" dirty="0">
                <a:latin typeface="Arial" pitchFamily="34" charset="0"/>
                <a:cs typeface="Arial" pitchFamily="34" charset="0"/>
              </a:rPr>
              <a:t>Лекция №1</a:t>
            </a:r>
          </a:p>
        </p:txBody>
      </p:sp>
      <p:sp>
        <p:nvSpPr>
          <p:cNvPr id="23554" name="AutoShape 2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6" name="AutoShape 4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9" name="AutoShape 7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Определение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501799"/>
            <a:ext cx="7704856" cy="171117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spcAft>
                <a:spcPts val="1200"/>
              </a:spcAft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программирования </a:t>
            </a:r>
            <a:r>
              <a:rPr lang="ru-RU" sz="2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– это формальная знаковая система, предназначенная для записи компьютерных программ.</a:t>
            </a:r>
          </a:p>
          <a:p>
            <a:pPr>
              <a:spcAft>
                <a:spcPts val="1200"/>
              </a:spcAft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800" dirty="0">
              <a:solidFill>
                <a:srgbClr val="000000"/>
              </a:solidFill>
            </a:endParaRPr>
          </a:p>
        </p:txBody>
      </p:sp>
      <p:pic>
        <p:nvPicPr>
          <p:cNvPr id="57346" name="Picture 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3501008"/>
            <a:ext cx="2592288" cy="256118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283968" y="3573016"/>
            <a:ext cx="388843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На данный момент в энциклопедии </a:t>
            </a:r>
            <a:r>
              <a:rPr lang="ru-RU" sz="2600" b="1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Progopedia.ru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описан 171 язык программирования.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35436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Классификация языков программирования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645815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spcAft>
                <a:spcPts val="1200"/>
              </a:spcAft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Точной классификации языков программирования не существует.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Наиболее часто встречается классификация по степени близости ЯП к архитектуре компьютера: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ЯП низкого уровня;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ЯП высокого уровня;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ЯП сверхвысокого уровня.</a:t>
            </a:r>
          </a:p>
          <a:p>
            <a:pPr>
              <a:spcAft>
                <a:spcPts val="1200"/>
              </a:spcAft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11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ЯП низкого уровня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57783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Языки низкого уровня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 это средство записи инструкций компьютеру простыми приказами-командами на аппаратном уровне.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Языки низкого уровня: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машинно-ориентированные;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плохо приспособлены для использования человеком. 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упрощения программирования был разработан язык символического кодирования –Автокод (язык ассемблера или Ассемблер). </a:t>
            </a:r>
          </a:p>
        </p:txBody>
      </p:sp>
    </p:spTree>
    <p:extLst>
      <p:ext uri="{BB962C8B-B14F-4D97-AF65-F5344CB8AC3E}">
        <p14:creationId xmlns:p14="http://schemas.microsoft.com/office/powerpoint/2010/main" val="54403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ЯП высокого уровня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501799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Языки программирования высокого уровня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это языки, которые допускают описание задачи в наглядном, легко воспринимаемом виде.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Они  не ориентированы на систему команд той или иной ЭВМ. К языкам программирования высокого уровня относятся Бейсик, Фортран, Паскаль, Си и др.</a:t>
            </a:r>
          </a:p>
        </p:txBody>
      </p:sp>
    </p:spTree>
    <p:extLst>
      <p:ext uri="{BB962C8B-B14F-4D97-AF65-F5344CB8AC3E}">
        <p14:creationId xmlns:p14="http://schemas.microsoft.com/office/powerpoint/2010/main" val="12554610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ЯП сверхвысокого уровня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ЯП сверхвысокого уровня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это ЯП с высоким уровнем абстракции.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отличие от языков программирования высокого уровня, где описывается принцип «как нужно сделать», в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сверхвысокоуровневых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языках программирования описывается лишь принцип «что нужно сделать». К языкам программирования сверхвысокого уровня можно отнести Алгол-68.</a:t>
            </a:r>
          </a:p>
          <a:p>
            <a:pPr>
              <a:spcAft>
                <a:spcPts val="1200"/>
              </a:spcAft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является компилируемым и статически типизированным. Он разработан в 70-х годах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Деннисов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Ритчи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На его основе в дальнейшем были созданы такие языки как С++ и С#,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7105" name="Picture 1" descr="K:\ОАиП\2018-2019\Вспомогательные рисунки\c-programmi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3140968"/>
            <a:ext cx="1414464" cy="14144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мощный язык, предназначенный для создания как низкоуровневых утилит и драйверов, так и весьма внушительных приложений и комплексов программ.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Создателем С++ является Бьёрн Страуструп. Разработка языка началась в 1979 году. </a:t>
            </a:r>
            <a:r>
              <a:rPr lang="ru-RU" sz="2800" dirty="0"/>
              <a:t> 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Первый выпуск C++ для коммерческого использования состоялся в 1985 году. В 1989 году вышла вторая версия языка.</a:t>
            </a:r>
          </a:p>
        </p:txBody>
      </p:sp>
      <p:pic>
        <p:nvPicPr>
          <p:cNvPr id="2" name="Picture 1" descr="K:\ОАиП\2018-2019\Вспомогательные рисунки\c-plus-plus-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5445224"/>
            <a:ext cx="1224136" cy="1224136"/>
          </a:xfrm>
          <a:prstGeom prst="rect">
            <a:avLst/>
          </a:prstGeom>
          <a:noFill/>
        </p:spPr>
      </p:pic>
      <p:sp>
        <p:nvSpPr>
          <p:cNvPr id="8195" name="AutoShape 3" descr="https://upload.wikimedia.org/wikipedia/commons/0/0e/Bjarne-stroustrup_%28cropped%29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С#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современный объектно-ориентированный язык, в основе которого лежат языки С и С++.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 в 1998—2001 годах группой инженеров под руководством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Андерсa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Хейлсбергa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компании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как основной язык разработки приложений для платформы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.NET.</a:t>
            </a:r>
            <a:r>
              <a:rPr lang="ru-RU" sz="2800" dirty="0"/>
              <a:t> </a:t>
            </a:r>
            <a:endParaRPr lang="ru-RU" sz="2600" dirty="0">
              <a:solidFill>
                <a:schemeClr val="accent1">
                  <a:lumMod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5" name="Picture 1" descr="K:\ОАиП\2018-2019\Вспомогательные рисунки\c shar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4941168"/>
            <a:ext cx="1368152" cy="1368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это строго типизированный объектно-ориентированный язык программирования. 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Разрабатывался с 1991 по 1995 год.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Изначально язык назывался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Oak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разрабатывался Джеймсом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Гослингом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программирования бытовых электронных устройств. Затем он был переименован в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стал использоваться для написания клиентских приложений и серверного программного обеспечения.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7" name="Picture 1" descr="K:\ОАиП\2018-2019\Вспомогательные рисунки\jav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5373216"/>
            <a:ext cx="2312439" cy="12945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прототипно-ориентированный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сценарный язык программирования, предназначенный для создания небольших клиентских и серверных приложений для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Internet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JavaScript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изначально создавался для того, чтобы сделать web-странички «живыми». </a:t>
            </a: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3" name="Picture 5" descr="K:\ОАиП\2018-2019\Вспомогательные рисунки\javascript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4437112"/>
            <a:ext cx="2160240" cy="2160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интерпретируемый язык общего назначения с открытым исходным кодом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скриптовый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язык).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PHP создавался специально для ведения web-разработок. Синтаксис языка берет начало из C,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и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Perl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является легким для изучения.</a:t>
            </a: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3731" name="Picture 3" descr="K:\ОАиП\2018-2019\Вспомогательные рисунки\зрз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4581128"/>
            <a:ext cx="2611265" cy="1409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высокоуровневый язык программирования общего назначения, ориентированный на повышение производительности разработчика, читаемости кода и на разработку 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web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-приложений.</a:t>
            </a:r>
            <a:r>
              <a:rPr lang="ru-RU" sz="2800" dirty="0"/>
              <a:t> </a:t>
            </a:r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4754" name="Picture 2" descr="K:\ОАиП\2018-2019\Вспомогательные рисунки\Python-Logo-PNG-Imag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933056"/>
            <a:ext cx="4320480" cy="2160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Ruby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язык программирования для разработки 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web-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приложений. Разработан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Юкихиро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Мацумото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в 1995 году. 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Основное назначение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Ruby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— создание простых и понятных программ, где важна не скорость работы программы, а малое время разработки, понятность и простота синтаксиса.</a:t>
            </a:r>
          </a:p>
          <a:p>
            <a:r>
              <a:rPr lang="ru-RU" sz="2800" dirty="0"/>
              <a:t> </a:t>
            </a:r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5778" name="Picture 2" descr="K:\ОАиП\2018-2019\Вспомогательные рисунки\rub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4365104"/>
            <a:ext cx="1988840" cy="19888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язык программирования общего назначения. Особенностью языка считается возможность работы с текстом. Сейчас он используется для выполнения широкого спектра задач, включая системное администрирование,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веб-разработку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сетевое программирование, игры,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биоинформатику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разработку графических пользовательских интерфейсов.</a:t>
            </a:r>
            <a:r>
              <a:rPr lang="ru-RU" sz="2800" dirty="0"/>
              <a:t> </a:t>
            </a:r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6802" name="Picture 2" descr="K:\ОАиП\2018-2019\Вспомогательные рисунки\Perl-1024x57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4869160"/>
            <a:ext cx="2692769" cy="1441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Kotlin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 — достаточно молодой язык, который разрабатывается и спонсируется компанией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JetBrains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 Он стал официальным языком разработок для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Android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  Официальный релиз продукта был выпущен в 2016 году.</a:t>
            </a: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7827" name="Picture 3" descr="K:\ОАиП\2018-2019\Вспомогательные рисунки\kotli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3717032"/>
            <a:ext cx="3600400" cy="11071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Обзор ЯП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340768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Swift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открытый мультипарадигмальный компилируемый язык программирования общего назначения. Создан компанией Apple в первую очередь для разработчиков iOS и macOS.</a:t>
            </a:r>
          </a:p>
        </p:txBody>
      </p:sp>
      <p:sp>
        <p:nvSpPr>
          <p:cNvPr id="2050" name="AutoShape 2" descr="ÐÐ°ÑÑÐ¸Ð½ÐºÐ¸ Ð¿Ð¾ Ð·Ð°Ð¿ÑÐ¾ÑÑ javascript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3730" name="AutoShape 2" descr="ÐÐ°ÑÑÐ¸Ð½ÐºÐ¸ Ð¿Ð¾ Ð·Ð°Ð¿ÑÐ¾ÑÑ php Ð»Ð¾Ð³Ð¾ÑÐ¸Ð¿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8850" name="Picture 2" descr="K:\ОАиП\2018-2019\Вспомогательные рисунки\apple-swift.jpg"/>
          <p:cNvPicPr>
            <a:picLocks noChangeAspect="1" noChangeArrowheads="1"/>
          </p:cNvPicPr>
          <p:nvPr/>
        </p:nvPicPr>
        <p:blipFill>
          <a:blip r:embed="rId3" cstate="print"/>
          <a:srcRect l="20390" r="19395"/>
          <a:stretch>
            <a:fillRect/>
          </a:stretch>
        </p:blipFill>
        <p:spPr bwMode="auto">
          <a:xfrm>
            <a:off x="1259632" y="3645024"/>
            <a:ext cx="1714023" cy="18926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312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Области применения ЯП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научные вычисления (языки C++, FORTRAN,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системное программирование (языки C++,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обработка информации (языки C++, COBOL,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искусственный интеллект (LISP,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Prolog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издательская деятельность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Postscript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TeX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удаленная обработка информации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Perl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PHP,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Java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C++);</a:t>
            </a:r>
          </a:p>
          <a:p>
            <a:pPr indent="263525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описание документов (HTML, XML).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Среда проектирования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Среда проектирования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– это средство разработки программы, предоставляющее собой удобный графический интерфейс разработки и большой спектр сервисов, включающих управление версиями хранимых данных, библиотеки классов, мастера создания шаблонов приложений и т.п.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Транслятор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511349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Для того, чтобы компьютер мог понять программу, написанную на каком-то языке программирования, необходима специальная программа (техническое средство), которая будет преобразовывать код исходной программы в машинный код. Такая программа называется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транслятором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Компилятор и интерпретатор</a:t>
            </a:r>
          </a:p>
        </p:txBody>
      </p:sp>
      <p:graphicFrame>
        <p:nvGraphicFramePr>
          <p:cNvPr id="5" name="Схема 4"/>
          <p:cNvGraphicFramePr/>
          <p:nvPr/>
        </p:nvGraphicFramePr>
        <p:xfrm>
          <a:off x="1644352" y="159724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Компилятор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268760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Компилятор целиком считывает программу, проводит её пошаговый анализ, оптимизирует её и целиком переводит её в машинный код.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Исполняемый файл, получившийся в результате компиляции, может быть запущен без наличия компилятора.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Интерпретатор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268760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 отличие от большинства компиляторов, интерпретатор обрабатывает, а затем исполняет не всю исходную программу, а отдельно каждую её строку, пока программа не будет закончена.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Интерпретатор позволяет работать в интерактивном режиме, но исходный код не может работать отдельно без наличия интерпретатора.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Стандарты ЯП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Для того чтобы компиляция одной и той же программы различными компиляторами всегда давала одинаковый результат, разрабатываются стандарты языков программирования. Существует ряд организаций, целенаправленно занимающихся вопросами стандартизации.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Стандарты ЯП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182563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американский национальный институт стандартов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ANSI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American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National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Standards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Institute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), 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институт инженеров по электротехнике и электронике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IEEE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Institute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of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Electrical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and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Electronic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Engineers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),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организация международных стандартов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ISO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International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Organization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Standardization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).</a:t>
            </a:r>
          </a:p>
        </p:txBody>
      </p:sp>
      <p:pic>
        <p:nvPicPr>
          <p:cNvPr id="91137" name="Picture 1" descr="K:\ОАиП\2018-2019\Вспомогательные рисунки\ans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845" y="4963932"/>
            <a:ext cx="1659732" cy="1659732"/>
          </a:xfrm>
          <a:prstGeom prst="rect">
            <a:avLst/>
          </a:prstGeom>
          <a:noFill/>
        </p:spPr>
      </p:pic>
      <p:pic>
        <p:nvPicPr>
          <p:cNvPr id="91138" name="Picture 2" descr="K:\ОАиП\2018-2019\Вспомогательные рисунки\iee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888" y="5445224"/>
            <a:ext cx="1872208" cy="606907"/>
          </a:xfrm>
          <a:prstGeom prst="rect">
            <a:avLst/>
          </a:prstGeom>
          <a:noFill/>
        </p:spPr>
      </p:pic>
      <p:pic>
        <p:nvPicPr>
          <p:cNvPr id="91139" name="Picture 3" descr="K:\ОАиП\2018-2019\Вспомогательные рисунки\шыщ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56176" y="5301208"/>
            <a:ext cx="1034585" cy="854475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Стандарты ЯП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При создании языка выпускается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частный стандарт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, определяемый разработчиками языка. Если язык получает широкое распространение, то появляются различные компиляторы, которые не точно следуют частному стандарту. Для приведения наиболее популярных реализаций языка в соответствие друг с другом разрабатывается </a:t>
            </a:r>
            <a:r>
              <a:rPr lang="ru-RU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согласительный стандарт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 процессе развития языка могут появляться новые стандарты, отражающие современные нововведения. 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Самостоятельно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Создайте презентацию-обзор на язык программирования, в соответствии с вашим вариантом. Вариант определяется номером вашего компьютера.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Варианты:</a:t>
            </a:r>
          </a:p>
          <a:p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1 – 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Perl			8 – </a:t>
            </a:r>
            <a:r>
              <a:rPr lang="en-US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Simula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2 – Lisp			9 – Ada </a:t>
            </a: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3 – Swift			10 – Scala </a:t>
            </a: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4 – Go			11 – </a:t>
            </a:r>
            <a:r>
              <a:rPr lang="en-US" sz="2600" dirty="0" err="1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Matlab</a:t>
            </a:r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5 – Miranda			12 – Logo </a:t>
            </a: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6 – Ruby			13 –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Ассемблер </a:t>
            </a:r>
            <a:endParaRPr lang="en-US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7 – Smalltalk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		14 – Фортран 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200" b="1" dirty="0">
                <a:solidFill>
                  <a:srgbClr val="0070C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Самостоятельно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052736"/>
            <a:ext cx="7704856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Требования к презентации: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презентация создана с помощью программы</a:t>
            </a:r>
            <a:r>
              <a:rPr lang="en-US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Презентаций и доступна к просмотру без регистрации;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не менее 15 слайдов;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грамотный, хорошо подобранный материал;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 pitchFamily="34" charset="0"/>
                <a:ea typeface="Lucida Sans Unicode" pitchFamily="32" charset="0"/>
                <a:cs typeface="Arial" pitchFamily="34" charset="0"/>
              </a:rPr>
              <a:t>наличие изображений, подходящих по смыслу;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грамотное оформление презентации;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на титульном листе указана тема, ФИО студентов, выполнивших работу, группа;</a:t>
            </a:r>
          </a:p>
          <a:p>
            <a:pPr indent="182563">
              <a:buFont typeface="Arial" pitchFamily="34" charset="0"/>
              <a:buChar char="•"/>
            </a:pPr>
            <a:r>
              <a:rPr lang="ru-RU" sz="24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презентация должна быть сдана преподавателю не позднее </a:t>
            </a:r>
            <a:r>
              <a:rPr lang="ru-RU" sz="240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30 сентября. </a:t>
            </a:r>
            <a:endParaRPr lang="ru-RU" sz="24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ru-RU" sz="245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Другая 2">
      <a:dk1>
        <a:srgbClr val="2F5AD4"/>
      </a:dk1>
      <a:lt1>
        <a:sysClr val="window" lastClr="FFFFFF"/>
      </a:lt1>
      <a:dk2>
        <a:srgbClr val="005390"/>
      </a:dk2>
      <a:lt2>
        <a:srgbClr val="7793E3"/>
      </a:lt2>
      <a:accent1>
        <a:srgbClr val="ADBEEE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FFFFFF"/>
      </a:hlink>
      <a:folHlink>
        <a:srgbClr val="FFFFFF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1106</TotalTime>
  <Words>1283</Words>
  <Application>Microsoft Office PowerPoint</Application>
  <PresentationFormat>Экран (4:3)</PresentationFormat>
  <Paragraphs>220</Paragraphs>
  <Slides>28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Arial Unicode MS</vt:lpstr>
      <vt:lpstr>Calibri</vt:lpstr>
      <vt:lpstr>Corbel</vt:lpstr>
      <vt:lpstr>Gill Sans MT</vt:lpstr>
      <vt:lpstr>Lucida Sans Unicode</vt:lpstr>
      <vt:lpstr>Times New Roman</vt:lpstr>
      <vt:lpstr>Verdana</vt:lpstr>
      <vt:lpstr>Wingdings 2</vt:lpstr>
      <vt:lpstr>Солнцестояние</vt:lpstr>
      <vt:lpstr>Развитие языков программирования. Обзор языков программирования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алгоритма. Формы представления алгоритмов</dc:title>
  <dc:creator>Максим</dc:creator>
  <cp:lastModifiedBy>Teacher</cp:lastModifiedBy>
  <cp:revision>93</cp:revision>
  <dcterms:created xsi:type="dcterms:W3CDTF">2018-06-13T16:44:19Z</dcterms:created>
  <dcterms:modified xsi:type="dcterms:W3CDTF">2023-09-04T05:51:47Z</dcterms:modified>
</cp:coreProperties>
</file>