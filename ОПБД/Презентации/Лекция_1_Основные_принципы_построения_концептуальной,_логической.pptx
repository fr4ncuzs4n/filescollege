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" panose="020B0604020202020204" charset="0"/>
      <p:regular r:id="rId15"/>
      <p:bold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BDDDE"/>
    <a:srgbClr val="000000"/>
    <a:srgbClr val="00ADEF"/>
    <a:srgbClr val="1A3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0772"/>
  </p:normalViewPr>
  <p:slideViewPr>
    <p:cSldViewPr snapToObjects="1" showGuides="1">
      <p:cViewPr varScale="1">
        <p:scale>
          <a:sx n="104" d="100"/>
          <a:sy n="104" d="100"/>
        </p:scale>
        <p:origin x="89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lor1_shape2"/>
          <p:cNvSpPr/>
          <p:nvPr userDrawn="1"/>
        </p:nvSpPr>
        <p:spPr>
          <a:xfrm>
            <a:off x="4123078" y="0"/>
            <a:ext cx="8064980" cy="6858000"/>
          </a:xfrm>
          <a:prstGeom prst="parallelogram">
            <a:avLst>
              <a:gd name="adj" fmla="val 53571"/>
            </a:avLst>
          </a:prstGeom>
          <a:solidFill>
            <a:srgbClr val="BBD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hidden_shape"/>
          <p:cNvSpPr/>
          <p:nvPr userDrawn="1"/>
        </p:nvSpPr>
        <p:spPr>
          <a:xfrm>
            <a:off x="0" y="943429"/>
            <a:ext cx="12192000" cy="3695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color1_shape1"/>
          <p:cNvCxnSpPr/>
          <p:nvPr userDrawn="1"/>
        </p:nvCxnSpPr>
        <p:spPr>
          <a:xfrm>
            <a:off x="1084191" y="2579409"/>
            <a:ext cx="3629241" cy="0"/>
          </a:xfrm>
          <a:prstGeom prst="line">
            <a:avLst/>
          </a:prstGeom>
          <a:ln w="38100">
            <a:solidFill>
              <a:srgbClr val="BBDD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98006" y="1312055"/>
            <a:ext cx="6768597" cy="1191323"/>
          </a:xfrm>
          <a:prstGeom prst="rect">
            <a:avLst/>
          </a:prstGeom>
        </p:spPr>
        <p:txBody>
          <a:bodyPr anchor="ctr"/>
          <a:lstStyle>
            <a:lvl1pPr>
              <a:defRPr lang="ru-RU" sz="3600" b="1" kern="1200" cap="non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Presentation name</a:t>
            </a:r>
            <a:endParaRPr lang="ru-RU" dirty="0"/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998005" y="2694151"/>
            <a:ext cx="9677400" cy="108049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ru-RU" sz="2800" kern="12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text here</a:t>
            </a:r>
            <a:endParaRPr lang="ru-RU" dirty="0"/>
          </a:p>
        </p:txBody>
      </p:sp>
      <p:pic>
        <p:nvPicPr>
          <p:cNvPr id="10" name="logo" descr="E:\Live3\Artrange\Projects\Slider\Branding\Logo\logo_екфтызукуте-0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658" y="6366957"/>
            <a:ext cx="969256" cy="3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19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lor1_shape1"/>
          <p:cNvSpPr/>
          <p:nvPr userDrawn="1"/>
        </p:nvSpPr>
        <p:spPr>
          <a:xfrm>
            <a:off x="4123078" y="0"/>
            <a:ext cx="8064980" cy="6858000"/>
          </a:xfrm>
          <a:prstGeom prst="parallelogram">
            <a:avLst>
              <a:gd name="adj" fmla="val 53571"/>
            </a:avLst>
          </a:prstGeom>
          <a:solidFill>
            <a:srgbClr val="BBD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hidden_shape"/>
          <p:cNvSpPr/>
          <p:nvPr userDrawn="1"/>
        </p:nvSpPr>
        <p:spPr>
          <a:xfrm>
            <a:off x="0" y="491043"/>
            <a:ext cx="12192000" cy="5953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838200" y="619437"/>
            <a:ext cx="10526545" cy="793317"/>
          </a:xfrm>
          <a:prstGeom prst="rect">
            <a:avLst/>
          </a:prstGeom>
        </p:spPr>
        <p:txBody>
          <a:bodyPr anchor="ctr"/>
          <a:lstStyle>
            <a:lvl1pPr>
              <a:defRPr lang="ru-RU" sz="3600" b="1" kern="1200" cap="non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Title</a:t>
            </a:r>
            <a:endParaRPr lang="ru-RU" dirty="0"/>
          </a:p>
        </p:txBody>
      </p:sp>
      <p:sp>
        <p:nvSpPr>
          <p:cNvPr id="13" name="text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536508"/>
            <a:ext cx="10526545" cy="4657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ru-RU" dirty="0"/>
          </a:p>
        </p:txBody>
      </p:sp>
      <p:pic>
        <p:nvPicPr>
          <p:cNvPr id="7" name="logo" descr="E:\Live3\Artrange\Projects\Slider\Branding\Logo\logo_екфтызукуте-0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658" y="6366957"/>
            <a:ext cx="969256" cy="3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65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lor1_shape1"/>
          <p:cNvSpPr/>
          <p:nvPr userDrawn="1"/>
        </p:nvSpPr>
        <p:spPr>
          <a:xfrm>
            <a:off x="0" y="0"/>
            <a:ext cx="12188058" cy="6858000"/>
          </a:xfrm>
          <a:prstGeom prst="parallelogram">
            <a:avLst>
              <a:gd name="adj" fmla="val 53571"/>
            </a:avLst>
          </a:prstGeom>
          <a:solidFill>
            <a:srgbClr val="BBD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"/>
          <p:cNvSpPr>
            <a:spLocks noGrp="1"/>
          </p:cNvSpPr>
          <p:nvPr>
            <p:ph type="body" sz="quarter" idx="13" hasCustomPrompt="1"/>
          </p:nvPr>
        </p:nvSpPr>
        <p:spPr>
          <a:xfrm>
            <a:off x="1994956" y="2174826"/>
            <a:ext cx="8191142" cy="26367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200" b="1" kern="1200" cap="all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Hero text </a:t>
            </a:r>
            <a:endParaRPr lang="ru-RU" dirty="0"/>
          </a:p>
        </p:txBody>
      </p:sp>
      <p:pic>
        <p:nvPicPr>
          <p:cNvPr id="5" name="logo" descr="E:\Live3\Artrange\Projects\Slider\Branding\Logo\logo_екфтызукуте-0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658" y="6366957"/>
            <a:ext cx="969256" cy="3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76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lor1_shape1"/>
          <p:cNvSpPr/>
          <p:nvPr userDrawn="1"/>
        </p:nvSpPr>
        <p:spPr>
          <a:xfrm>
            <a:off x="4123078" y="0"/>
            <a:ext cx="8064980" cy="6858000"/>
          </a:xfrm>
          <a:prstGeom prst="parallelogram">
            <a:avLst>
              <a:gd name="adj" fmla="val 53571"/>
            </a:avLst>
          </a:prstGeom>
          <a:solidFill>
            <a:srgbClr val="BBD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hidden_shape"/>
          <p:cNvSpPr/>
          <p:nvPr userDrawn="1"/>
        </p:nvSpPr>
        <p:spPr>
          <a:xfrm>
            <a:off x="0" y="491042"/>
            <a:ext cx="12192000" cy="5818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89399" y="1060521"/>
            <a:ext cx="5493000" cy="793317"/>
          </a:xfrm>
          <a:prstGeom prst="rect">
            <a:avLst/>
          </a:prstGeom>
        </p:spPr>
        <p:txBody>
          <a:bodyPr/>
          <a:lstStyle>
            <a:lvl1pPr>
              <a:defRPr lang="ru-RU" sz="3600" b="1" kern="1200" cap="non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Title</a:t>
            </a:r>
            <a:endParaRPr lang="ru-RU" dirty="0"/>
          </a:p>
        </p:txBody>
      </p:sp>
      <p:sp>
        <p:nvSpPr>
          <p:cNvPr id="12" name="text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046433"/>
            <a:ext cx="5530272" cy="4262918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lang="ru-RU" sz="2800" kern="12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solidFill>
                  <a:srgbClr val="1A315C"/>
                </a:solidFill>
                <a:latin typeface="Circe" panose="020B0502020203020203" pitchFamily="34" charset="-52"/>
              </a:defRPr>
            </a:lvl2pPr>
            <a:lvl3pPr>
              <a:defRPr>
                <a:solidFill>
                  <a:srgbClr val="1A315C"/>
                </a:solidFill>
                <a:latin typeface="Circe" panose="020B0502020203020203" pitchFamily="34" charset="-52"/>
              </a:defRPr>
            </a:lvl3pPr>
            <a:lvl4pPr>
              <a:defRPr>
                <a:solidFill>
                  <a:srgbClr val="1A315C"/>
                </a:solidFill>
                <a:latin typeface="Circe" panose="020B0502020203020203" pitchFamily="34" charset="-52"/>
              </a:defRPr>
            </a:lvl4pPr>
            <a:lvl5pPr>
              <a:defRPr>
                <a:solidFill>
                  <a:srgbClr val="1A315C"/>
                </a:solidFill>
                <a:latin typeface="Circe" panose="020B0502020203020203" pitchFamily="34" charset="-52"/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picture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-1"/>
            <a:ext cx="5807966" cy="68579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ru-RU" sz="2800" kern="12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8" name="logo" descr="E:\Live3\Artrange\Projects\Slider\Branding\Logo\logo_екфтызукуте-0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658" y="6366957"/>
            <a:ext cx="969256" cy="3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5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ru-RU" sz="2800" kern="12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Picture</a:t>
            </a:r>
            <a:endParaRPr lang="ru-RU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12191999" cy="1873612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52000"/>
                </a:schemeClr>
              </a:gs>
            </a:gsLst>
            <a:lin ang="5400000" scaled="0"/>
          </a:gra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3200" b="1" cap="all" baseline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lvl="0" indent="0" algn="ctr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  <a:endParaRPr lang="ru-RU" dirty="0"/>
          </a:p>
        </p:txBody>
      </p:sp>
      <p:pic>
        <p:nvPicPr>
          <p:cNvPr id="5" name="logo" descr="E:\Live3\Artrange\Projects\Slider\Branding\Logo\logo_екфтызукуте-0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658" y="6366957"/>
            <a:ext cx="969256" cy="3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23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lor1_shape2"/>
          <p:cNvSpPr/>
          <p:nvPr userDrawn="1"/>
        </p:nvSpPr>
        <p:spPr>
          <a:xfrm>
            <a:off x="4123078" y="0"/>
            <a:ext cx="8064980" cy="6858000"/>
          </a:xfrm>
          <a:prstGeom prst="parallelogram">
            <a:avLst>
              <a:gd name="adj" fmla="val 53571"/>
            </a:avLst>
          </a:prstGeom>
          <a:solidFill>
            <a:srgbClr val="BBD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hidden_shape"/>
          <p:cNvSpPr/>
          <p:nvPr userDrawn="1"/>
        </p:nvSpPr>
        <p:spPr>
          <a:xfrm>
            <a:off x="0" y="2737716"/>
            <a:ext cx="12192000" cy="34564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color1_shape1"/>
          <p:cNvCxnSpPr/>
          <p:nvPr userDrawn="1"/>
        </p:nvCxnSpPr>
        <p:spPr>
          <a:xfrm>
            <a:off x="1084191" y="4465926"/>
            <a:ext cx="3629241" cy="0"/>
          </a:xfrm>
          <a:prstGeom prst="line">
            <a:avLst/>
          </a:prstGeom>
          <a:ln w="38100">
            <a:solidFill>
              <a:srgbClr val="BBDD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8978" y="4549894"/>
            <a:ext cx="7642678" cy="1183385"/>
          </a:xfrm>
          <a:prstGeom prst="rect">
            <a:avLst/>
          </a:prstGeom>
        </p:spPr>
        <p:txBody>
          <a:bodyPr anchor="ctr"/>
          <a:lstStyle>
            <a:lvl1pPr>
              <a:defRPr lang="ru-RU" sz="3600" b="1" kern="1200" cap="none" baseline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pic>
        <p:nvPicPr>
          <p:cNvPr id="7" name="logo" descr="E:\Live3\Artrange\Projects\Slider\Branding\Logo\logo_екфтызукуте-0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658" y="6366957"/>
            <a:ext cx="969256" cy="3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593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2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3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E2F11-1BBD-E432-F788-E878DC67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191" y="2737716"/>
            <a:ext cx="8669628" cy="1191323"/>
          </a:xfrm>
        </p:spPr>
        <p:txBody>
          <a:bodyPr/>
          <a:lstStyle/>
          <a:p>
            <a:r>
              <a:rPr lang="ru-RU" dirty="0"/>
              <a:t>Основные принципы построения концептуальной, логической и физической модели данных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057581-1D1E-86C9-8BD1-285900655BA6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07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B3B76-07BB-C3D2-9797-A5413CC5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нотация модели «Сущность - связь»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0B9939-3411-CA2E-9BFE-B0658A555D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536508"/>
            <a:ext cx="10845679" cy="74035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основе любой информационной системы – лежит база данных. Разберем, из</a:t>
            </a:r>
          </a:p>
          <a:p>
            <a:r>
              <a:rPr lang="ru-RU" dirty="0"/>
              <a:t>каких этапов строится создание базы данных или её разработка.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E5C6BE2-C49B-446F-0441-C6D323EDF763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A306B45-BA35-4AC1-81B2-C7351D259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1165"/>
            <a:ext cx="7163209" cy="389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6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5F6C40-E5D0-9980-C737-97473ED6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Концептуальная модель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E2F26F-7847-1480-AF3A-4A22CBE42C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2000" b="1" dirty="0"/>
              <a:t>Концептуальная модель данных </a:t>
            </a:r>
            <a:r>
              <a:rPr lang="ru-RU" sz="2000" dirty="0"/>
              <a:t>представляет собой абстрактное представление данных на высшем уровне, не зависящее от конкретных технических реализаций или технологий.</a:t>
            </a:r>
          </a:p>
          <a:p>
            <a:endParaRPr lang="ru-RU" sz="2000" dirty="0"/>
          </a:p>
          <a:p>
            <a:r>
              <a:rPr lang="ru-RU" sz="2000" b="1" dirty="0"/>
              <a:t>Концептуальная модель </a:t>
            </a:r>
            <a:r>
              <a:rPr lang="ru-RU" sz="2000" dirty="0"/>
              <a:t>- это отражение предметной области, для которой разрабатывается база данных.</a:t>
            </a:r>
          </a:p>
          <a:p>
            <a:endParaRPr lang="ru-RU" sz="2000" dirty="0"/>
          </a:p>
          <a:p>
            <a:r>
              <a:rPr lang="ru-RU" sz="2000" dirty="0"/>
              <a:t>Она ориентирована на понимание бизнес-процессов и требований к данным. </a:t>
            </a:r>
          </a:p>
          <a:p>
            <a:endParaRPr lang="ru-RU" sz="2000" dirty="0"/>
          </a:p>
          <a:p>
            <a:r>
              <a:rPr lang="ru-RU" sz="2000" b="1" dirty="0"/>
              <a:t>Основные элементы: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Сущности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Атрибуты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Связи</a:t>
            </a:r>
          </a:p>
          <a:p>
            <a:endParaRPr lang="ru-RU" sz="2000" b="1" dirty="0"/>
          </a:p>
          <a:p>
            <a:endParaRPr lang="ru-RU" sz="2000" b="1" dirty="0"/>
          </a:p>
        </p:txBody>
      </p:sp>
      <p:pic>
        <p:nvPicPr>
          <p:cNvPr id="1028" name="Picture 4" descr="Базы данных - Урок 4. Концептуальная модель базы данных">
            <a:extLst>
              <a:ext uri="{FF2B5EF4-FFF2-40B4-BE49-F238E27FC236}">
                <a16:creationId xmlns:a16="http://schemas.microsoft.com/office/drawing/2014/main" id="{6D3111EA-F0F2-3F23-0754-F51E03334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73" y="3892935"/>
            <a:ext cx="4493346" cy="256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03D1A01-C078-1A8C-72AC-888FE592EF3B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61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B3B76-07BB-C3D2-9797-A5413CC5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Концептуальная модель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0B9939-3411-CA2E-9BFE-B0658A555D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536508"/>
            <a:ext cx="10526545" cy="45231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Обозначение элементов в диаграмме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5C5E68-0226-FC4E-791F-C63270195963}"/>
              </a:ext>
            </a:extLst>
          </p:cNvPr>
          <p:cNvSpPr/>
          <p:nvPr/>
        </p:nvSpPr>
        <p:spPr>
          <a:xfrm>
            <a:off x="911370" y="2161645"/>
            <a:ext cx="1555389" cy="576070"/>
          </a:xfrm>
          <a:prstGeom prst="rect">
            <a:avLst/>
          </a:prstGeom>
          <a:noFill/>
          <a:ln w="38100">
            <a:solidFill>
              <a:srgbClr val="BBD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AA3AF-55BB-FF4F-15F7-D8A30B670B04}"/>
              </a:ext>
            </a:extLst>
          </p:cNvPr>
          <p:cNvSpPr txBox="1"/>
          <p:nvPr/>
        </p:nvSpPr>
        <p:spPr>
          <a:xfrm>
            <a:off x="2581973" y="2249625"/>
            <a:ext cx="420531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/>
              <a:t>- СУЩНОСТЬ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E735580C-0EE7-7C32-5D6B-45B9A80C9C1A}"/>
              </a:ext>
            </a:extLst>
          </p:cNvPr>
          <p:cNvSpPr/>
          <p:nvPr/>
        </p:nvSpPr>
        <p:spPr>
          <a:xfrm>
            <a:off x="911370" y="3025751"/>
            <a:ext cx="1555389" cy="576070"/>
          </a:xfrm>
          <a:prstGeom prst="ellipse">
            <a:avLst/>
          </a:prstGeom>
          <a:noFill/>
          <a:ln w="38100">
            <a:solidFill>
              <a:srgbClr val="BBD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C3BCD-70B0-2B37-6254-8D4472D56A84}"/>
              </a:ext>
            </a:extLst>
          </p:cNvPr>
          <p:cNvSpPr txBox="1"/>
          <p:nvPr/>
        </p:nvSpPr>
        <p:spPr>
          <a:xfrm>
            <a:off x="2581973" y="3105571"/>
            <a:ext cx="420531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/>
              <a:t>- АТРИБУТ</a:t>
            </a:r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7FF32E9D-0C61-05BA-31AA-B22099A30693}"/>
              </a:ext>
            </a:extLst>
          </p:cNvPr>
          <p:cNvSpPr/>
          <p:nvPr/>
        </p:nvSpPr>
        <p:spPr>
          <a:xfrm>
            <a:off x="911370" y="3889857"/>
            <a:ext cx="1555389" cy="576070"/>
          </a:xfrm>
          <a:prstGeom prst="diamond">
            <a:avLst/>
          </a:prstGeom>
          <a:noFill/>
          <a:ln w="38100">
            <a:solidFill>
              <a:srgbClr val="BBDD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4B17E-09DB-2E71-5A20-24B3DD91C283}"/>
              </a:ext>
            </a:extLst>
          </p:cNvPr>
          <p:cNvSpPr txBox="1"/>
          <p:nvPr/>
        </p:nvSpPr>
        <p:spPr>
          <a:xfrm>
            <a:off x="2582887" y="3960634"/>
            <a:ext cx="420531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/>
              <a:t>- СВЯЗЬ МЕЖДУ СУЩНОСТЯМИ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E867661-65D4-02B8-8CC7-E12A2A2A8B56}"/>
              </a:ext>
            </a:extLst>
          </p:cNvPr>
          <p:cNvCxnSpPr/>
          <p:nvPr/>
        </p:nvCxnSpPr>
        <p:spPr>
          <a:xfrm>
            <a:off x="968977" y="4926782"/>
            <a:ext cx="1497782" cy="0"/>
          </a:xfrm>
          <a:prstGeom prst="straightConnector1">
            <a:avLst/>
          </a:prstGeom>
          <a:ln w="38100">
            <a:solidFill>
              <a:srgbClr val="BBDD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14E55E-3E7D-539B-1EEF-FCBFFC620CD5}"/>
              </a:ext>
            </a:extLst>
          </p:cNvPr>
          <p:cNvSpPr txBox="1"/>
          <p:nvPr/>
        </p:nvSpPr>
        <p:spPr>
          <a:xfrm>
            <a:off x="2582887" y="4669121"/>
            <a:ext cx="420531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/>
              <a:t>- К ОДНОМУ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30F66AE9-1FB0-E3D1-755D-7BC67BA97974}"/>
              </a:ext>
            </a:extLst>
          </p:cNvPr>
          <p:cNvCxnSpPr/>
          <p:nvPr/>
        </p:nvCxnSpPr>
        <p:spPr>
          <a:xfrm>
            <a:off x="968977" y="5387638"/>
            <a:ext cx="1497782" cy="0"/>
          </a:xfrm>
          <a:prstGeom prst="straightConnector1">
            <a:avLst/>
          </a:prstGeom>
          <a:ln w="38100">
            <a:solidFill>
              <a:srgbClr val="BBDD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4D36471-5F63-4C4E-510B-16071817E9EB}"/>
              </a:ext>
            </a:extLst>
          </p:cNvPr>
          <p:cNvCxnSpPr/>
          <p:nvPr/>
        </p:nvCxnSpPr>
        <p:spPr>
          <a:xfrm>
            <a:off x="876518" y="5381240"/>
            <a:ext cx="1497782" cy="0"/>
          </a:xfrm>
          <a:prstGeom prst="straightConnector1">
            <a:avLst/>
          </a:prstGeom>
          <a:ln w="38100">
            <a:solidFill>
              <a:srgbClr val="BBDD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51949F-F7A4-77D8-15EF-6CCA3BEF7DDC}"/>
              </a:ext>
            </a:extLst>
          </p:cNvPr>
          <p:cNvSpPr txBox="1"/>
          <p:nvPr/>
        </p:nvSpPr>
        <p:spPr>
          <a:xfrm>
            <a:off x="2581972" y="5121437"/>
            <a:ext cx="420531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b="1" dirty="0"/>
              <a:t>- КО МНОГИМ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E5C6BE2-C49B-446F-0441-C6D323EDF763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64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EAEF6-C243-6A8E-E85D-BBCC4624C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A2E86D-159C-8380-8B4E-81FF2E8711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sz="2000" b="1"/>
              <a:t>Логическая модель </a:t>
            </a:r>
            <a:r>
              <a:rPr lang="ru-RU" sz="2000"/>
              <a:t>определяет</a:t>
            </a:r>
            <a:r>
              <a:rPr lang="ru-RU" sz="2000" dirty="0"/>
              <a:t>, как данные будут организованы в базе данных, используя таблицы, ключи и отношения.</a:t>
            </a:r>
            <a:br>
              <a:rPr lang="ru-RU" sz="2000" dirty="0"/>
            </a:br>
            <a:br>
              <a:rPr lang="ru-RU" sz="2000" dirty="0"/>
            </a:br>
            <a:r>
              <a:rPr lang="ru-RU" sz="2000" b="1" dirty="0"/>
              <a:t>Основные элементы:</a:t>
            </a:r>
          </a:p>
          <a:p>
            <a:endParaRPr lang="ru-RU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/>
              <a:t>Таблицы (</a:t>
            </a:r>
            <a:r>
              <a:rPr lang="ru-RU" sz="1800" b="1" dirty="0" err="1"/>
              <a:t>Tables</a:t>
            </a:r>
            <a:r>
              <a:rPr lang="ru-RU" sz="1800" b="1" dirty="0"/>
              <a:t>): </a:t>
            </a:r>
            <a:r>
              <a:rPr lang="ru-RU" sz="1800" dirty="0"/>
              <a:t>Таблицы представляют собой структуры данных, состоящие из строк (записей) и столбцов (полей). Каждая таблица соответствует определенной сущности из концептуальной модели.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/>
              <a:t>Ключи (</a:t>
            </a:r>
            <a:r>
              <a:rPr lang="ru-RU" sz="1800" b="1" dirty="0" err="1"/>
              <a:t>Keys</a:t>
            </a:r>
            <a:r>
              <a:rPr lang="ru-RU" sz="1800" b="1" dirty="0"/>
              <a:t>): </a:t>
            </a:r>
            <a:r>
              <a:rPr lang="ru-RU" sz="1800" dirty="0"/>
              <a:t>Ключи определяют уникальные идентификаторы записей в таблицах. Первичный ключ (</a:t>
            </a:r>
            <a:r>
              <a:rPr lang="ru-RU" sz="1800" dirty="0" err="1"/>
              <a:t>Primary</a:t>
            </a:r>
            <a:r>
              <a:rPr lang="ru-RU" sz="1800" dirty="0"/>
              <a:t> Key) уникально идентифицирует каждую запись, а внешний ключ (Foreign Key) создает связи между таблицами.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/>
              <a:t>Отношения (</a:t>
            </a:r>
            <a:r>
              <a:rPr lang="ru-RU" sz="1800" b="1" dirty="0" err="1"/>
              <a:t>Relationships</a:t>
            </a:r>
            <a:r>
              <a:rPr lang="ru-RU" sz="1800" b="1" dirty="0"/>
              <a:t>): </a:t>
            </a:r>
            <a:r>
              <a:rPr lang="ru-RU" sz="1800" dirty="0"/>
              <a:t>Отношения между таблицами определяют, как они связаны друг с другом. Например, таблица "Заказы" может иметь связь с таблицей "Клиенты" через внешний ключ.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18B99E-0903-B7F1-6920-7D1C203A79CF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90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496B6-7F37-2FF3-1A57-91644BEC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C32C66-23E0-BAA2-5FBC-F5F8DA99E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590" y="1239934"/>
            <a:ext cx="6518820" cy="518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BD45A2-D9E4-228E-15AD-AE60C9FB9E2D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26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ABB36-6187-74D6-2C94-5CBDCDC7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модель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4B012F-2A3F-7147-4BD2-5B514E23B0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Физическая модель данных</a:t>
            </a:r>
            <a:r>
              <a:rPr lang="ru-RU" sz="2000" dirty="0"/>
              <a:t> описывает, как данные будут физически храниться, обрабатываться и оптимизироваться для конкретной СУБД.</a:t>
            </a:r>
          </a:p>
          <a:p>
            <a:endParaRPr lang="ru-RU" sz="2000" dirty="0"/>
          </a:p>
          <a:p>
            <a:r>
              <a:rPr lang="ru-RU" sz="2000" dirty="0"/>
              <a:t>Это уровень, на котором учитываются детали реализации, такие как типы данных, индексы и методы хранения.</a:t>
            </a:r>
          </a:p>
          <a:p>
            <a:endParaRPr lang="ru-RU" sz="2000" dirty="0"/>
          </a:p>
          <a:p>
            <a:r>
              <a:rPr lang="ru-RU" sz="2000" b="1" dirty="0"/>
              <a:t>Основные элементы: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Типы данных (Data </a:t>
            </a:r>
            <a:r>
              <a:rPr lang="ru-RU" sz="1800" b="1" dirty="0" err="1"/>
              <a:t>Types</a:t>
            </a:r>
            <a:r>
              <a:rPr lang="ru-RU" sz="1800" b="1" dirty="0"/>
              <a:t>):</a:t>
            </a:r>
            <a:r>
              <a:rPr lang="ru-RU" sz="1800" dirty="0"/>
              <a:t> Определяют формат данных, такие как целые числа, строки, даты и другие. Выбор правильных типов данных влияет на эффективность хранения и обработки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Индексы (</a:t>
            </a:r>
            <a:r>
              <a:rPr lang="ru-RU" sz="1800" b="1" dirty="0" err="1"/>
              <a:t>Indexes</a:t>
            </a:r>
            <a:r>
              <a:rPr lang="ru-RU" sz="1800" b="1" dirty="0"/>
              <a:t>): </a:t>
            </a:r>
            <a:r>
              <a:rPr lang="ru-RU" sz="1800" dirty="0"/>
              <a:t>Индексы создаются для ускорения операций поиска и сортировки данных. Они помогают снизить нагрузку на базу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Распределение данных (Data Distribution): </a:t>
            </a:r>
            <a:r>
              <a:rPr lang="ru-RU" sz="1800" dirty="0"/>
              <a:t>Определяет, как данные будут распределены на физических устройствах, таких как жесткие диски. Это важно для оптимизации производительности.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952A50-5B35-1FAB-6455-BD976C5188D2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916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CA9DE-40CB-C05B-222A-19A15A56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модель данных</a:t>
            </a:r>
          </a:p>
        </p:txBody>
      </p:sp>
      <p:pic>
        <p:nvPicPr>
          <p:cNvPr id="3074" name="Picture 2" descr="MySQL :: MySQL Workbench Manual :: 9.1.1.3 EER Diagrams">
            <a:extLst>
              <a:ext uri="{FF2B5EF4-FFF2-40B4-BE49-F238E27FC236}">
                <a16:creationId xmlns:a16="http://schemas.microsoft.com/office/drawing/2014/main" id="{539D9B3E-3F11-333F-2883-15FFBCA90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790" y="4408319"/>
            <a:ext cx="4262918" cy="1955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8273C6-7FBA-DC95-1385-B2A49B5BC56E}"/>
              </a:ext>
            </a:extLst>
          </p:cNvPr>
          <p:cNvSpPr txBox="1"/>
          <p:nvPr/>
        </p:nvSpPr>
        <p:spPr>
          <a:xfrm>
            <a:off x="856842" y="1412754"/>
            <a:ext cx="107149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Часто логическую и физическую модель данных путают между собой, но основные различия между ними велики. Возьмём самое простое из них.</a:t>
            </a:r>
          </a:p>
          <a:p>
            <a:br>
              <a:rPr lang="ru-RU" dirty="0"/>
            </a:br>
            <a:r>
              <a:rPr lang="ru-RU" b="1" dirty="0"/>
              <a:t>Уровень абстракции: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Логическая модель данных: Логическая модель описывает структуру данных без привязки к конкретной системе управления базами данных (СУБД). Это абстрактное представление данных в виде таблиц, ключей и связей между ними.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Физическая модель данных: Физическая модель описывает, как данные будут физически храниться, организовываться и оптимизироваться для конкретной СУБД. Это более конкретное представление, учитывающее детали реализации.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F61852-3794-3C9D-E56F-539A031886CC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194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A5EAA-A3AE-7B36-050C-9FEF9DE1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0A60E4-5394-6DBB-6917-E0A51A1999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Концептуальная модель ориентирована на бизнес-требования, логическая модель определяет структуру данных, а физическая модель учитывает детали реализации для оптимизации производительности и эффективности СУБД. Понимание и правильное применение этих моделей являются ключевыми элементами проектирования баз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86B9B7-B587-0638-3576-596DA11BAA62}"/>
              </a:ext>
            </a:extLst>
          </p:cNvPr>
          <p:cNvSpPr/>
          <p:nvPr/>
        </p:nvSpPr>
        <p:spPr>
          <a:xfrm>
            <a:off x="10704560" y="6136529"/>
            <a:ext cx="1382568" cy="633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5840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502</Words>
  <Application>Microsoft Office PowerPoint</Application>
  <PresentationFormat>Широкоэкранный</PresentationFormat>
  <Paragraphs>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Wingdings</vt:lpstr>
      <vt:lpstr>Circe</vt:lpstr>
      <vt:lpstr>Calibri</vt:lpstr>
      <vt:lpstr>Roboto</vt:lpstr>
      <vt:lpstr>Arial</vt:lpstr>
      <vt:lpstr>Тема Office</vt:lpstr>
      <vt:lpstr>Основные принципы построения концептуальной, логической и физической модели данных</vt:lpstr>
      <vt:lpstr>Общая нотация модели «Сущность - связь»</vt:lpstr>
      <vt:lpstr>Концептуальная модель данных</vt:lpstr>
      <vt:lpstr>Концептуальная модель данных</vt:lpstr>
      <vt:lpstr>Логическая модель данных</vt:lpstr>
      <vt:lpstr>Логическая модель данных</vt:lpstr>
      <vt:lpstr>Физическая модель данных</vt:lpstr>
      <vt:lpstr>Физическая модель данных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Sorokin Dmitry</dc:creator>
  <cp:lastModifiedBy>Dmitry</cp:lastModifiedBy>
  <cp:revision>57</cp:revision>
  <dcterms:created xsi:type="dcterms:W3CDTF">2015-10-03T08:13:02Z</dcterms:created>
  <dcterms:modified xsi:type="dcterms:W3CDTF">2025-09-02T06:55:11Z</dcterms:modified>
</cp:coreProperties>
</file>